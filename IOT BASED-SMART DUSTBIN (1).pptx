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7920" y="2425679"/>
            <a:ext cx="9968230" cy="1259840"/>
          </a:xfrm>
          <a:custGeom>
            <a:avLst/>
            <a:gdLst/>
            <a:ahLst/>
            <a:cxnLst/>
            <a:rect l="l" t="t" r="r" b="b"/>
            <a:pathLst>
              <a:path w="9968230" h="1259839">
                <a:moveTo>
                  <a:pt x="9968039" y="1259639"/>
                </a:moveTo>
                <a:lnTo>
                  <a:pt x="0" y="1259639"/>
                </a:lnTo>
                <a:lnTo>
                  <a:pt x="0" y="0"/>
                </a:lnTo>
                <a:lnTo>
                  <a:pt x="9968039" y="0"/>
                </a:lnTo>
                <a:lnTo>
                  <a:pt x="9968039" y="125963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59"/>
            <a:ext cx="4643120" cy="4643120"/>
          </a:xfrm>
          <a:custGeom>
            <a:avLst/>
            <a:gdLst/>
            <a:ahLst/>
            <a:cxnLst/>
            <a:rect l="l" t="t" r="r" b="b"/>
            <a:pathLst>
              <a:path w="4643120" h="4643120">
                <a:moveTo>
                  <a:pt x="0" y="4642636"/>
                </a:moveTo>
                <a:lnTo>
                  <a:pt x="0" y="0"/>
                </a:lnTo>
                <a:lnTo>
                  <a:pt x="4642636" y="0"/>
                </a:lnTo>
                <a:lnTo>
                  <a:pt x="0" y="4642636"/>
                </a:lnTo>
                <a:close/>
              </a:path>
            </a:pathLst>
          </a:custGeom>
          <a:solidFill>
            <a:srgbClr val="527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4138929" cy="4138295"/>
          </a:xfrm>
          <a:custGeom>
            <a:avLst/>
            <a:gdLst/>
            <a:ahLst/>
            <a:cxnLst/>
            <a:rect l="l" t="t" r="r" b="b"/>
            <a:pathLst>
              <a:path w="4138929" h="4138295">
                <a:moveTo>
                  <a:pt x="263804" y="3874551"/>
                </a:moveTo>
                <a:lnTo>
                  <a:pt x="179" y="3874551"/>
                </a:lnTo>
                <a:lnTo>
                  <a:pt x="3874732" y="0"/>
                </a:lnTo>
                <a:lnTo>
                  <a:pt x="4138356" y="0"/>
                </a:lnTo>
                <a:lnTo>
                  <a:pt x="263804" y="3874551"/>
                </a:lnTo>
                <a:close/>
              </a:path>
              <a:path w="4138929" h="4138295">
                <a:moveTo>
                  <a:pt x="179" y="4138176"/>
                </a:moveTo>
                <a:lnTo>
                  <a:pt x="0" y="4137996"/>
                </a:lnTo>
                <a:lnTo>
                  <a:pt x="0" y="3874371"/>
                </a:lnTo>
                <a:lnTo>
                  <a:pt x="179" y="3874551"/>
                </a:lnTo>
                <a:lnTo>
                  <a:pt x="263804" y="3874551"/>
                </a:lnTo>
                <a:lnTo>
                  <a:pt x="179" y="41381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3255" y="2017701"/>
            <a:ext cx="4605020" cy="625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7567" y="4568714"/>
            <a:ext cx="8999220" cy="442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880" y="0"/>
            <a:ext cx="17259300" cy="10287000"/>
            <a:chOff x="1028880" y="0"/>
            <a:chExt cx="17259300" cy="10287000"/>
          </a:xfrm>
        </p:grpSpPr>
        <p:sp>
          <p:nvSpPr>
            <p:cNvPr id="3" name="object 3"/>
            <p:cNvSpPr/>
            <p:nvPr/>
          </p:nvSpPr>
          <p:spPr>
            <a:xfrm>
              <a:off x="13645002" y="500683"/>
              <a:ext cx="4643120" cy="9285605"/>
            </a:xfrm>
            <a:custGeom>
              <a:avLst/>
              <a:gdLst/>
              <a:ahLst/>
              <a:cxnLst/>
              <a:rect l="l" t="t" r="r" b="b"/>
              <a:pathLst>
                <a:path w="4643119" h="9285605">
                  <a:moveTo>
                    <a:pt x="4642637" y="9285273"/>
                  </a:moveTo>
                  <a:lnTo>
                    <a:pt x="0" y="4642636"/>
                  </a:lnTo>
                  <a:lnTo>
                    <a:pt x="4642637" y="0"/>
                  </a:lnTo>
                  <a:lnTo>
                    <a:pt x="4642997" y="360"/>
                  </a:lnTo>
                  <a:lnTo>
                    <a:pt x="4642997" y="9284913"/>
                  </a:lnTo>
                  <a:lnTo>
                    <a:pt x="4642637" y="9285273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149463" y="1004423"/>
              <a:ext cx="4138929" cy="8277225"/>
            </a:xfrm>
            <a:custGeom>
              <a:avLst/>
              <a:gdLst/>
              <a:ahLst/>
              <a:cxnLst/>
              <a:rect l="l" t="t" r="r" b="b"/>
              <a:pathLst>
                <a:path w="4138930" h="8277225">
                  <a:moveTo>
                    <a:pt x="4138355" y="8276713"/>
                  </a:moveTo>
                  <a:lnTo>
                    <a:pt x="0" y="4138356"/>
                  </a:lnTo>
                  <a:lnTo>
                    <a:pt x="4138355" y="0"/>
                  </a:lnTo>
                  <a:lnTo>
                    <a:pt x="4138536" y="180"/>
                  </a:lnTo>
                  <a:lnTo>
                    <a:pt x="4138536" y="258132"/>
                  </a:lnTo>
                  <a:lnTo>
                    <a:pt x="4138355" y="258132"/>
                  </a:lnTo>
                  <a:lnTo>
                    <a:pt x="260878" y="4135610"/>
                  </a:lnTo>
                  <a:lnTo>
                    <a:pt x="4138355" y="8013088"/>
                  </a:lnTo>
                  <a:lnTo>
                    <a:pt x="4138536" y="8013088"/>
                  </a:lnTo>
                  <a:lnTo>
                    <a:pt x="4138536" y="8276533"/>
                  </a:lnTo>
                  <a:lnTo>
                    <a:pt x="4138355" y="8276713"/>
                  </a:lnTo>
                  <a:close/>
                </a:path>
                <a:path w="4138930" h="8277225">
                  <a:moveTo>
                    <a:pt x="4138536" y="258312"/>
                  </a:moveTo>
                  <a:lnTo>
                    <a:pt x="4138355" y="258132"/>
                  </a:lnTo>
                  <a:lnTo>
                    <a:pt x="4138536" y="258132"/>
                  </a:lnTo>
                  <a:lnTo>
                    <a:pt x="4138536" y="258312"/>
                  </a:lnTo>
                  <a:close/>
                </a:path>
                <a:path w="4138930" h="8277225">
                  <a:moveTo>
                    <a:pt x="4138536" y="8013088"/>
                  </a:moveTo>
                  <a:lnTo>
                    <a:pt x="4138355" y="8013088"/>
                  </a:lnTo>
                  <a:lnTo>
                    <a:pt x="4138536" y="8012908"/>
                  </a:lnTo>
                  <a:lnTo>
                    <a:pt x="4138536" y="80130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04563" y="0"/>
              <a:ext cx="7042150" cy="10287000"/>
            </a:xfrm>
            <a:custGeom>
              <a:avLst/>
              <a:gdLst/>
              <a:ahLst/>
              <a:cxnLst/>
              <a:rect l="l" t="t" r="r" b="b"/>
              <a:pathLst>
                <a:path w="7042150" h="10287000">
                  <a:moveTo>
                    <a:pt x="7041299" y="0"/>
                  </a:moveTo>
                  <a:lnTo>
                    <a:pt x="6763652" y="0"/>
                  </a:lnTo>
                  <a:lnTo>
                    <a:pt x="3520833" y="3242830"/>
                  </a:lnTo>
                  <a:lnTo>
                    <a:pt x="278015" y="0"/>
                  </a:lnTo>
                  <a:lnTo>
                    <a:pt x="355" y="0"/>
                  </a:lnTo>
                  <a:lnTo>
                    <a:pt x="3520833" y="3520478"/>
                  </a:lnTo>
                  <a:lnTo>
                    <a:pt x="3798481" y="3242830"/>
                  </a:lnTo>
                  <a:lnTo>
                    <a:pt x="7041299" y="0"/>
                  </a:lnTo>
                  <a:close/>
                </a:path>
                <a:path w="7042150" h="10287000">
                  <a:moveTo>
                    <a:pt x="7041655" y="10287000"/>
                  </a:moveTo>
                  <a:lnTo>
                    <a:pt x="3792702" y="7038048"/>
                  </a:lnTo>
                  <a:lnTo>
                    <a:pt x="3520833" y="6766179"/>
                  </a:lnTo>
                  <a:lnTo>
                    <a:pt x="0" y="10287000"/>
                  </a:lnTo>
                  <a:lnTo>
                    <a:pt x="271868" y="10287000"/>
                  </a:lnTo>
                  <a:lnTo>
                    <a:pt x="3520833" y="7038048"/>
                  </a:lnTo>
                  <a:lnTo>
                    <a:pt x="6769798" y="10287000"/>
                  </a:lnTo>
                  <a:lnTo>
                    <a:pt x="7041655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8880" y="823679"/>
              <a:ext cx="9944100" cy="9463405"/>
            </a:xfrm>
            <a:custGeom>
              <a:avLst/>
              <a:gdLst/>
              <a:ahLst/>
              <a:cxnLst/>
              <a:rect l="l" t="t" r="r" b="b"/>
              <a:pathLst>
                <a:path w="9944100" h="9463405">
                  <a:moveTo>
                    <a:pt x="9943919" y="9463319"/>
                  </a:moveTo>
                  <a:lnTo>
                    <a:pt x="0" y="9463319"/>
                  </a:lnTo>
                  <a:lnTo>
                    <a:pt x="0" y="0"/>
                  </a:lnTo>
                  <a:lnTo>
                    <a:pt x="9943919" y="0"/>
                  </a:lnTo>
                  <a:lnTo>
                    <a:pt x="9943919" y="9463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54902" y="643698"/>
            <a:ext cx="9695815" cy="123444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sz="4800" b="0" spc="-409" dirty="0">
                <a:solidFill>
                  <a:srgbClr val="2B4A9D"/>
                </a:solidFill>
                <a:latin typeface="Arial Black"/>
                <a:cs typeface="Arial Black"/>
              </a:rPr>
              <a:t>ABSTRACT</a:t>
            </a:r>
            <a:endParaRPr sz="4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2000" b="0" spc="-175" dirty="0">
                <a:solidFill>
                  <a:srgbClr val="2B4A9D"/>
                </a:solidFill>
                <a:latin typeface="Arial Black"/>
                <a:cs typeface="Arial Black"/>
              </a:rPr>
              <a:t>IOT</a:t>
            </a:r>
            <a:r>
              <a:rPr sz="2000" b="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114" dirty="0">
                <a:solidFill>
                  <a:srgbClr val="2B4A9D"/>
                </a:solidFill>
                <a:latin typeface="Arial Black"/>
                <a:cs typeface="Arial Black"/>
              </a:rPr>
              <a:t>BASED-</a:t>
            </a:r>
            <a:r>
              <a:rPr sz="2000" b="0" spc="-135" dirty="0">
                <a:solidFill>
                  <a:srgbClr val="2B4A9D"/>
                </a:solidFill>
                <a:latin typeface="Arial Black"/>
                <a:cs typeface="Arial Black"/>
              </a:rPr>
              <a:t>SMART</a:t>
            </a:r>
            <a:r>
              <a:rPr sz="2000" b="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195" dirty="0">
                <a:solidFill>
                  <a:srgbClr val="2B4A9D"/>
                </a:solidFill>
                <a:latin typeface="Arial Black"/>
                <a:cs typeface="Arial Black"/>
              </a:rPr>
              <a:t>DUSTBIN</a:t>
            </a:r>
            <a:r>
              <a:rPr sz="2000" b="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55" dirty="0">
                <a:solidFill>
                  <a:srgbClr val="2B4A9D"/>
                </a:solidFill>
                <a:latin typeface="Arial Black"/>
                <a:cs typeface="Arial Black"/>
              </a:rPr>
              <a:t>helps</a:t>
            </a:r>
            <a:r>
              <a:rPr sz="2000" b="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65" dirty="0">
                <a:solidFill>
                  <a:srgbClr val="2B4A9D"/>
                </a:solidFill>
                <a:latin typeface="Arial Black"/>
                <a:cs typeface="Arial Black"/>
              </a:rPr>
              <a:t>to</a:t>
            </a:r>
            <a:r>
              <a:rPr sz="2000" b="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65" dirty="0">
                <a:solidFill>
                  <a:srgbClr val="2B4A9D"/>
                </a:solidFill>
                <a:latin typeface="Arial Black"/>
                <a:cs typeface="Arial Black"/>
              </a:rPr>
              <a:t>create</a:t>
            </a:r>
            <a:r>
              <a:rPr sz="2000" b="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dirty="0">
                <a:solidFill>
                  <a:srgbClr val="2B4A9D"/>
                </a:solidFill>
                <a:latin typeface="Arial Black"/>
                <a:cs typeface="Arial Black"/>
              </a:rPr>
              <a:t>a</a:t>
            </a:r>
            <a:r>
              <a:rPr sz="2000" b="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50" dirty="0">
                <a:solidFill>
                  <a:srgbClr val="2B4A9D"/>
                </a:solidFill>
                <a:latin typeface="Arial Black"/>
                <a:cs typeface="Arial Black"/>
              </a:rPr>
              <a:t>cleaner,</a:t>
            </a:r>
            <a:r>
              <a:rPr sz="2000" b="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50" dirty="0">
                <a:solidFill>
                  <a:srgbClr val="2B4A9D"/>
                </a:solidFill>
                <a:latin typeface="Arial Black"/>
                <a:cs typeface="Arial Black"/>
              </a:rPr>
              <a:t>safer,</a:t>
            </a:r>
            <a:r>
              <a:rPr sz="2000" b="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20" dirty="0">
                <a:solidFill>
                  <a:srgbClr val="2B4A9D"/>
                </a:solidFill>
                <a:latin typeface="Arial Black"/>
                <a:cs typeface="Arial Black"/>
              </a:rPr>
              <a:t>more</a:t>
            </a:r>
            <a:r>
              <a:rPr sz="2000" b="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b="0" spc="-10" dirty="0">
                <a:solidFill>
                  <a:srgbClr val="2B4A9D"/>
                </a:solidFill>
                <a:latin typeface="Arial Black"/>
                <a:cs typeface="Arial Black"/>
              </a:rPr>
              <a:t>hygienic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7619" y="2316036"/>
            <a:ext cx="9830435" cy="570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2B4A9D"/>
                </a:solidFill>
                <a:latin typeface="Arial Black"/>
                <a:cs typeface="Arial Black"/>
              </a:rPr>
              <a:t>environment</a:t>
            </a:r>
            <a:r>
              <a:rPr sz="2000" spc="-229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and</a:t>
            </a:r>
            <a:r>
              <a:rPr sz="2000" spc="-22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5" dirty="0">
                <a:solidFill>
                  <a:srgbClr val="2B4A9D"/>
                </a:solidFill>
                <a:latin typeface="Arial Black"/>
                <a:cs typeface="Arial Black"/>
              </a:rPr>
              <a:t>enhanced</a:t>
            </a:r>
            <a:r>
              <a:rPr sz="2000" spc="-229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40" dirty="0">
                <a:solidFill>
                  <a:srgbClr val="2B4A9D"/>
                </a:solidFill>
                <a:latin typeface="Arial Black"/>
                <a:cs typeface="Arial Black"/>
              </a:rPr>
              <a:t>operational</a:t>
            </a:r>
            <a:r>
              <a:rPr sz="2000" spc="-22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0" dirty="0">
                <a:solidFill>
                  <a:srgbClr val="2B4A9D"/>
                </a:solidFill>
                <a:latin typeface="Arial Black"/>
                <a:cs typeface="Arial Black"/>
              </a:rPr>
              <a:t>efficiency</a:t>
            </a:r>
            <a:r>
              <a:rPr sz="2000" spc="-229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5" dirty="0">
                <a:solidFill>
                  <a:srgbClr val="2B4A9D"/>
                </a:solidFill>
                <a:latin typeface="Arial Black"/>
                <a:cs typeface="Arial Black"/>
              </a:rPr>
              <a:t>while</a:t>
            </a:r>
            <a:r>
              <a:rPr sz="2000" spc="-22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2B4A9D"/>
                </a:solidFill>
                <a:latin typeface="Arial Black"/>
                <a:cs typeface="Arial Black"/>
              </a:rPr>
              <a:t>reducing</a:t>
            </a:r>
            <a:endParaRPr sz="2000">
              <a:latin typeface="Arial Black"/>
              <a:cs typeface="Arial Black"/>
            </a:endParaRPr>
          </a:p>
          <a:p>
            <a:pPr marL="78105" marR="70485" algn="ctr">
              <a:lnSpc>
                <a:spcPct val="252000"/>
              </a:lnSpc>
            </a:pP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management</a:t>
            </a:r>
            <a:r>
              <a:rPr sz="2000" spc="-21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85" dirty="0">
                <a:solidFill>
                  <a:srgbClr val="2B4A9D"/>
                </a:solidFill>
                <a:latin typeface="Arial Black"/>
                <a:cs typeface="Arial Black"/>
              </a:rPr>
              <a:t>costs,</a:t>
            </a:r>
            <a:r>
              <a:rPr sz="2000" spc="-21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5" dirty="0">
                <a:solidFill>
                  <a:srgbClr val="2B4A9D"/>
                </a:solidFill>
                <a:latin typeface="Arial Black"/>
                <a:cs typeface="Arial Black"/>
              </a:rPr>
              <a:t>resources,</a:t>
            </a:r>
            <a:r>
              <a:rPr sz="2000" spc="-21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and</a:t>
            </a:r>
            <a:r>
              <a:rPr sz="2000" spc="-21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road-side</a:t>
            </a:r>
            <a:r>
              <a:rPr sz="2000" spc="-21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5" dirty="0">
                <a:solidFill>
                  <a:srgbClr val="2B4A9D"/>
                </a:solidFill>
                <a:latin typeface="Arial Black"/>
                <a:cs typeface="Arial Black"/>
              </a:rPr>
              <a:t>emissions.</a:t>
            </a:r>
            <a:r>
              <a:rPr sz="2000" spc="-21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110" dirty="0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sz="2000" spc="-21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5" dirty="0">
                <a:solidFill>
                  <a:srgbClr val="2B4A9D"/>
                </a:solidFill>
                <a:latin typeface="Arial Black"/>
                <a:cs typeface="Arial Black"/>
              </a:rPr>
              <a:t>Smart</a:t>
            </a:r>
            <a:r>
              <a:rPr sz="2000" spc="-21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90" dirty="0">
                <a:solidFill>
                  <a:srgbClr val="2B4A9D"/>
                </a:solidFill>
                <a:latin typeface="Arial Black"/>
                <a:cs typeface="Arial Black"/>
              </a:rPr>
              <a:t>Bin</a:t>
            </a:r>
            <a:r>
              <a:rPr sz="2000" spc="-21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25" dirty="0">
                <a:solidFill>
                  <a:srgbClr val="2B4A9D"/>
                </a:solidFill>
                <a:latin typeface="Arial Black"/>
                <a:cs typeface="Arial Black"/>
              </a:rPr>
              <a:t>is </a:t>
            </a:r>
            <a:r>
              <a:rPr sz="2000" spc="-40" dirty="0">
                <a:solidFill>
                  <a:srgbClr val="2B4A9D"/>
                </a:solidFill>
                <a:latin typeface="Arial Black"/>
                <a:cs typeface="Arial Black"/>
              </a:rPr>
              <a:t>ideal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0" dirty="0">
                <a:solidFill>
                  <a:srgbClr val="2B4A9D"/>
                </a:solidFill>
                <a:latin typeface="Arial Black"/>
                <a:cs typeface="Arial Black"/>
              </a:rPr>
              <a:t>for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busy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5" dirty="0">
                <a:solidFill>
                  <a:srgbClr val="2B4A9D"/>
                </a:solidFill>
                <a:latin typeface="Arial Black"/>
                <a:cs typeface="Arial Black"/>
              </a:rPr>
              <a:t>locations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45" dirty="0">
                <a:solidFill>
                  <a:srgbClr val="2B4A9D"/>
                </a:solidFill>
                <a:latin typeface="Arial Black"/>
                <a:cs typeface="Arial Black"/>
              </a:rPr>
              <a:t>such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45" dirty="0">
                <a:solidFill>
                  <a:srgbClr val="2B4A9D"/>
                </a:solidFill>
                <a:latin typeface="Arial Black"/>
                <a:cs typeface="Arial Black"/>
              </a:rPr>
              <a:t>as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5" dirty="0">
                <a:solidFill>
                  <a:srgbClr val="2B4A9D"/>
                </a:solidFill>
                <a:latin typeface="Arial Black"/>
                <a:cs typeface="Arial Black"/>
              </a:rPr>
              <a:t>campuses,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5" dirty="0">
                <a:solidFill>
                  <a:srgbClr val="2B4A9D"/>
                </a:solidFill>
                <a:latin typeface="Arial Black"/>
                <a:cs typeface="Arial Black"/>
              </a:rPr>
              <a:t>theme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0" dirty="0">
                <a:solidFill>
                  <a:srgbClr val="2B4A9D"/>
                </a:solidFill>
                <a:latin typeface="Arial Black"/>
                <a:cs typeface="Arial Black"/>
              </a:rPr>
              <a:t>parks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0" dirty="0">
                <a:solidFill>
                  <a:srgbClr val="2B4A9D"/>
                </a:solidFill>
                <a:latin typeface="Arial Black"/>
                <a:cs typeface="Arial Black"/>
              </a:rPr>
              <a:t>.</a:t>
            </a:r>
            <a:endParaRPr sz="2000">
              <a:latin typeface="Arial Black"/>
              <a:cs typeface="Arial Black"/>
            </a:endParaRPr>
          </a:p>
          <a:p>
            <a:pPr marL="12700" marR="5080" algn="ctr">
              <a:lnSpc>
                <a:spcPct val="252000"/>
              </a:lnSpc>
            </a:pPr>
            <a:r>
              <a:rPr sz="2000" spc="-165" dirty="0">
                <a:solidFill>
                  <a:srgbClr val="2B4A9D"/>
                </a:solidFill>
                <a:latin typeface="Arial Black"/>
                <a:cs typeface="Arial Black"/>
              </a:rPr>
              <a:t>COMPONENTS</a:t>
            </a:r>
            <a:r>
              <a:rPr sz="2000" spc="-23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75" dirty="0">
                <a:solidFill>
                  <a:srgbClr val="2B4A9D"/>
                </a:solidFill>
                <a:latin typeface="Arial Black"/>
                <a:cs typeface="Arial Black"/>
              </a:rPr>
              <a:t>:ARDUINO-</a:t>
            </a:r>
            <a:r>
              <a:rPr sz="2000" spc="-50" dirty="0">
                <a:solidFill>
                  <a:srgbClr val="2B4A9D"/>
                </a:solidFill>
                <a:latin typeface="Arial Black"/>
                <a:cs typeface="Arial Black"/>
              </a:rPr>
              <a:t>ide,</a:t>
            </a:r>
            <a:r>
              <a:rPr sz="2000" spc="-229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70" dirty="0">
                <a:solidFill>
                  <a:srgbClr val="2B4A9D"/>
                </a:solidFill>
                <a:latin typeface="Arial Black"/>
                <a:cs typeface="Arial Black"/>
              </a:rPr>
              <a:t>Servo</a:t>
            </a:r>
            <a:r>
              <a:rPr sz="2000" spc="-23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5" dirty="0">
                <a:solidFill>
                  <a:srgbClr val="2B4A9D"/>
                </a:solidFill>
                <a:latin typeface="Arial Black"/>
                <a:cs typeface="Arial Black"/>
              </a:rPr>
              <a:t>Motor,</a:t>
            </a:r>
            <a:r>
              <a:rPr sz="2000" spc="-229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105" dirty="0">
                <a:solidFill>
                  <a:srgbClr val="2B4A9D"/>
                </a:solidFill>
                <a:latin typeface="Arial Black"/>
                <a:cs typeface="Arial Black"/>
              </a:rPr>
              <a:t>Power</a:t>
            </a:r>
            <a:r>
              <a:rPr sz="2000" spc="-23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supply</a:t>
            </a:r>
            <a:r>
              <a:rPr sz="2000" spc="-229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5" dirty="0">
                <a:solidFill>
                  <a:srgbClr val="2B4A9D"/>
                </a:solidFill>
                <a:latin typeface="Arial Black"/>
                <a:cs typeface="Arial Black"/>
              </a:rPr>
              <a:t>,connecting</a:t>
            </a:r>
            <a:r>
              <a:rPr sz="2000" spc="-23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2B4A9D"/>
                </a:solidFill>
                <a:latin typeface="Arial Black"/>
                <a:cs typeface="Arial Black"/>
              </a:rPr>
              <a:t>wires, </a:t>
            </a:r>
            <a:r>
              <a:rPr sz="2000" spc="-20" dirty="0">
                <a:solidFill>
                  <a:srgbClr val="2B4A9D"/>
                </a:solidFill>
                <a:latin typeface="Arial Black"/>
                <a:cs typeface="Arial Black"/>
              </a:rPr>
              <a:t>dustbin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75" dirty="0">
                <a:solidFill>
                  <a:srgbClr val="2B4A9D"/>
                </a:solidFill>
                <a:latin typeface="Arial Black"/>
                <a:cs typeface="Arial Black"/>
              </a:rPr>
              <a:t>.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114" dirty="0">
                <a:solidFill>
                  <a:srgbClr val="2B4A9D"/>
                </a:solidFill>
                <a:latin typeface="Arial Black"/>
                <a:cs typeface="Arial Black"/>
              </a:rPr>
              <a:t>These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5" dirty="0">
                <a:solidFill>
                  <a:srgbClr val="2B4A9D"/>
                </a:solidFill>
                <a:latin typeface="Arial Black"/>
                <a:cs typeface="Arial Black"/>
              </a:rPr>
              <a:t>components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45" dirty="0">
                <a:solidFill>
                  <a:srgbClr val="2B4A9D"/>
                </a:solidFill>
                <a:latin typeface="Arial Black"/>
                <a:cs typeface="Arial Black"/>
              </a:rPr>
              <a:t>help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2B4A9D"/>
                </a:solidFill>
                <a:latin typeface="Arial Black"/>
                <a:cs typeface="Arial Black"/>
              </a:rPr>
              <a:t>in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0" dirty="0">
                <a:solidFill>
                  <a:srgbClr val="2B4A9D"/>
                </a:solidFill>
                <a:latin typeface="Arial Black"/>
                <a:cs typeface="Arial Black"/>
              </a:rPr>
              <a:t>opening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5" dirty="0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40" dirty="0">
                <a:solidFill>
                  <a:srgbClr val="2B4A9D"/>
                </a:solidFill>
                <a:latin typeface="Arial Black"/>
                <a:cs typeface="Arial Black"/>
              </a:rPr>
              <a:t>lid,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5" dirty="0">
                <a:solidFill>
                  <a:srgbClr val="2B4A9D"/>
                </a:solidFill>
                <a:latin typeface="Arial Black"/>
                <a:cs typeface="Arial Black"/>
              </a:rPr>
              <a:t>on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5" dirty="0">
                <a:solidFill>
                  <a:srgbClr val="2B4A9D"/>
                </a:solidFill>
                <a:latin typeface="Arial Black"/>
                <a:cs typeface="Arial Black"/>
              </a:rPr>
              <a:t>detection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0" dirty="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25" dirty="0">
                <a:solidFill>
                  <a:srgbClr val="2B4A9D"/>
                </a:solidFill>
                <a:latin typeface="Arial Black"/>
                <a:cs typeface="Arial Black"/>
              </a:rPr>
              <a:t>any </a:t>
            </a:r>
            <a:r>
              <a:rPr sz="2000" spc="-75" dirty="0">
                <a:solidFill>
                  <a:srgbClr val="2B4A9D"/>
                </a:solidFill>
                <a:latin typeface="Arial Black"/>
                <a:cs typeface="Arial Black"/>
              </a:rPr>
              <a:t>object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and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5" dirty="0">
                <a:solidFill>
                  <a:srgbClr val="2B4A9D"/>
                </a:solidFill>
                <a:latin typeface="Arial Black"/>
                <a:cs typeface="Arial Black"/>
              </a:rPr>
              <a:t>also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0" dirty="0">
                <a:solidFill>
                  <a:srgbClr val="2B4A9D"/>
                </a:solidFill>
                <a:latin typeface="Arial Black"/>
                <a:cs typeface="Arial Black"/>
              </a:rPr>
              <a:t>sending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5" dirty="0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0" dirty="0">
                <a:solidFill>
                  <a:srgbClr val="2B4A9D"/>
                </a:solidFill>
                <a:latin typeface="Arial Black"/>
                <a:cs typeface="Arial Black"/>
              </a:rPr>
              <a:t>notification</a:t>
            </a:r>
            <a:r>
              <a:rPr sz="2000" spc="-25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2B4A9D"/>
                </a:solidFill>
                <a:latin typeface="Arial Black"/>
                <a:cs typeface="Arial Black"/>
              </a:rPr>
              <a:t>in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5" dirty="0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form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0" dirty="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sz="2000" spc="-25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2B4A9D"/>
                </a:solidFill>
                <a:latin typeface="Arial Black"/>
                <a:cs typeface="Arial Black"/>
              </a:rPr>
              <a:t>LED.</a:t>
            </a:r>
            <a:endParaRPr sz="2000">
              <a:latin typeface="Arial Black"/>
              <a:cs typeface="Arial Black"/>
            </a:endParaRPr>
          </a:p>
          <a:p>
            <a:pPr marL="566420" marR="559435" algn="ctr">
              <a:lnSpc>
                <a:spcPct val="252000"/>
              </a:lnSpc>
            </a:pPr>
            <a:r>
              <a:rPr sz="2000" dirty="0">
                <a:solidFill>
                  <a:srgbClr val="2B4A9D"/>
                </a:solidFill>
                <a:latin typeface="Arial Black"/>
                <a:cs typeface="Arial Black"/>
              </a:rPr>
              <a:t>-</a:t>
            </a:r>
            <a:r>
              <a:rPr sz="2000" spc="65" dirty="0">
                <a:solidFill>
                  <a:srgbClr val="2B4A9D"/>
                </a:solidFill>
                <a:latin typeface="Arial Black"/>
                <a:cs typeface="Arial Black"/>
              </a:rPr>
              <a:t>Smart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45" dirty="0">
                <a:solidFill>
                  <a:srgbClr val="2B4A9D"/>
                </a:solidFill>
                <a:latin typeface="Arial Black"/>
                <a:cs typeface="Arial Black"/>
              </a:rPr>
              <a:t>Dustbin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75" dirty="0">
                <a:solidFill>
                  <a:srgbClr val="2B4A9D"/>
                </a:solidFill>
                <a:latin typeface="Arial Black"/>
                <a:cs typeface="Arial Black"/>
              </a:rPr>
              <a:t>works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35" dirty="0">
                <a:solidFill>
                  <a:srgbClr val="2B4A9D"/>
                </a:solidFill>
                <a:latin typeface="Arial Black"/>
                <a:cs typeface="Arial Black"/>
              </a:rPr>
              <a:t>on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55" dirty="0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40" dirty="0">
                <a:solidFill>
                  <a:srgbClr val="2B4A9D"/>
                </a:solidFill>
                <a:latin typeface="Arial Black"/>
                <a:cs typeface="Arial Black"/>
              </a:rPr>
              <a:t>principle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0" dirty="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sz="2000" spc="-24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75" dirty="0">
                <a:solidFill>
                  <a:srgbClr val="2B4A9D"/>
                </a:solidFill>
                <a:latin typeface="Arial Black"/>
                <a:cs typeface="Arial Black"/>
              </a:rPr>
              <a:t>object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65" dirty="0">
                <a:solidFill>
                  <a:srgbClr val="2B4A9D"/>
                </a:solidFill>
                <a:latin typeface="Arial Black"/>
                <a:cs typeface="Arial Black"/>
              </a:rPr>
              <a:t>detection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2B4A9D"/>
                </a:solidFill>
                <a:latin typeface="Arial Black"/>
                <a:cs typeface="Arial Black"/>
              </a:rPr>
              <a:t>using</a:t>
            </a:r>
            <a:r>
              <a:rPr sz="2000" spc="-24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25" dirty="0">
                <a:solidFill>
                  <a:srgbClr val="2B4A9D"/>
                </a:solidFill>
                <a:latin typeface="Arial Black"/>
                <a:cs typeface="Arial Black"/>
              </a:rPr>
              <a:t>an </a:t>
            </a:r>
            <a:r>
              <a:rPr sz="2000" spc="-40" dirty="0">
                <a:solidFill>
                  <a:srgbClr val="2B4A9D"/>
                </a:solidFill>
                <a:latin typeface="Arial Black"/>
                <a:cs typeface="Arial Black"/>
              </a:rPr>
              <a:t>ultrasonic</a:t>
            </a:r>
            <a:r>
              <a:rPr sz="2000" spc="-220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2B4A9D"/>
                </a:solidFill>
                <a:latin typeface="Arial Black"/>
                <a:cs typeface="Arial Black"/>
              </a:rPr>
              <a:t>sensor.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9" y="-179"/>
            <a:ext cx="18134965" cy="10134600"/>
            <a:chOff x="539" y="-179"/>
            <a:chExt cx="18134965" cy="10134600"/>
          </a:xfrm>
        </p:grpSpPr>
        <p:sp>
          <p:nvSpPr>
            <p:cNvPr id="10" name="object 10"/>
            <p:cNvSpPr/>
            <p:nvPr/>
          </p:nvSpPr>
          <p:spPr>
            <a:xfrm>
              <a:off x="539" y="-179"/>
              <a:ext cx="1633220" cy="1635760"/>
            </a:xfrm>
            <a:custGeom>
              <a:avLst/>
              <a:gdLst/>
              <a:ahLst/>
              <a:cxnLst/>
              <a:rect l="l" t="t" r="r" b="b"/>
              <a:pathLst>
                <a:path w="1633220" h="1635760">
                  <a:moveTo>
                    <a:pt x="0" y="1635479"/>
                  </a:moveTo>
                  <a:lnTo>
                    <a:pt x="0" y="0"/>
                  </a:lnTo>
                  <a:lnTo>
                    <a:pt x="1632959" y="0"/>
                  </a:lnTo>
                  <a:lnTo>
                    <a:pt x="0" y="163547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48279" y="9647279"/>
              <a:ext cx="487079" cy="487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560" y="0"/>
            <a:ext cx="4597199" cy="18784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7520" y="390600"/>
            <a:ext cx="2076479" cy="1275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4480" y="0"/>
            <a:ext cx="3837599" cy="16664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49840" y="0"/>
            <a:ext cx="5357519" cy="1832039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00362" y="2143442"/>
          <a:ext cx="15892144" cy="7842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697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5600" spc="-30" dirty="0">
                          <a:solidFill>
                            <a:srgbClr val="2B4B82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sz="5600" spc="-310" dirty="0">
                          <a:solidFill>
                            <a:srgbClr val="2B4B8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5600" spc="-10" dirty="0">
                          <a:solidFill>
                            <a:srgbClr val="2B4B82"/>
                          </a:solidFill>
                          <a:latin typeface="Arial MT"/>
                          <a:cs typeface="Arial MT"/>
                        </a:rPr>
                        <a:t>Areas</a:t>
                      </a:r>
                      <a:endParaRPr sz="56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57150">
                      <a:solidFill>
                        <a:srgbClr val="FDFDFD"/>
                      </a:solidFill>
                      <a:prstDash val="solid"/>
                    </a:lnL>
                    <a:lnR w="57150">
                      <a:solidFill>
                        <a:srgbClr val="FDFDFD"/>
                      </a:solidFill>
                      <a:prstDash val="solid"/>
                    </a:lnR>
                    <a:lnT w="57150">
                      <a:solidFill>
                        <a:srgbClr val="FDFDFD"/>
                      </a:solidFill>
                      <a:prstDash val="solid"/>
                    </a:lnT>
                    <a:lnB w="57150">
                      <a:solidFill>
                        <a:srgbClr val="FDFD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DFDFD"/>
                      </a:solidFill>
                      <a:prstDash val="solid"/>
                    </a:lnL>
                    <a:lnR w="57150">
                      <a:solidFill>
                        <a:srgbClr val="FDFDFD"/>
                      </a:solidFill>
                      <a:prstDash val="solid"/>
                    </a:lnR>
                    <a:lnT w="57150">
                      <a:solidFill>
                        <a:srgbClr val="FDFDFD"/>
                      </a:solidFill>
                      <a:prstDash val="solid"/>
                    </a:lnT>
                    <a:lnB w="57150">
                      <a:solidFill>
                        <a:srgbClr val="FDFDF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5915">
                <a:tc>
                  <a:txBody>
                    <a:bodyPr/>
                    <a:lstStyle/>
                    <a:p>
                      <a:pPr marL="85725" marR="71691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--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Bins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help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cleaner,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safer,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hygienic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enhanced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efficiency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while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reducing management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costs,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resources.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85725" marR="194310" algn="just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--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SMARTER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BIN,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SMARTER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CITY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:Managing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waste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smarter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manner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hugely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quality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our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daily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lives,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pioneer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innovative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city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solutions,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contributing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improving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inefficient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waste</a:t>
                      </a:r>
                      <a:r>
                        <a:rPr sz="2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Bins.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85725" algn="just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--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INNOVATIONS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MAKING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LIVES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BETTER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85725" marR="43307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smarter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waste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just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area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that Guardforce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lives,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better,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safer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convenient.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57150">
                      <a:solidFill>
                        <a:srgbClr val="FDFDFD"/>
                      </a:solidFill>
                      <a:prstDash val="solid"/>
                    </a:lnL>
                    <a:lnR w="57150">
                      <a:solidFill>
                        <a:srgbClr val="FDFDFD"/>
                      </a:solidFill>
                      <a:prstDash val="solid"/>
                    </a:lnR>
                    <a:lnT w="57150">
                      <a:solidFill>
                        <a:srgbClr val="FDFDFD"/>
                      </a:solidFill>
                      <a:prstDash val="solid"/>
                    </a:lnT>
                    <a:lnB w="57150">
                      <a:solidFill>
                        <a:srgbClr val="FDFD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DFDFD"/>
                      </a:solidFill>
                      <a:prstDash val="solid"/>
                    </a:lnL>
                    <a:lnR w="57150">
                      <a:solidFill>
                        <a:srgbClr val="FDFDFD"/>
                      </a:solidFill>
                      <a:prstDash val="solid"/>
                    </a:lnR>
                    <a:lnT w="57150">
                      <a:solidFill>
                        <a:srgbClr val="FDFDFD"/>
                      </a:solidFill>
                      <a:prstDash val="solid"/>
                    </a:lnT>
                    <a:lnB w="57150">
                      <a:solidFill>
                        <a:srgbClr val="FDFDF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3821" y="3809876"/>
            <a:ext cx="11163935" cy="232473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93040" marR="5080" indent="-180975">
              <a:lnSpc>
                <a:spcPct val="105800"/>
              </a:lnSpc>
              <a:spcBef>
                <a:spcPts val="285"/>
              </a:spcBef>
            </a:pPr>
            <a:r>
              <a:rPr sz="6000" b="0" spc="-690" dirty="0">
                <a:solidFill>
                  <a:srgbClr val="FF5757"/>
                </a:solidFill>
                <a:latin typeface="Arial MT"/>
                <a:cs typeface="Arial MT"/>
              </a:rPr>
              <a:t>T</a:t>
            </a:r>
            <a:r>
              <a:rPr sz="6000" b="0" spc="-25" dirty="0">
                <a:solidFill>
                  <a:srgbClr val="FF5757"/>
                </a:solidFill>
                <a:latin typeface="Arial MT"/>
                <a:cs typeface="Arial MT"/>
              </a:rPr>
              <a:t>ools</a:t>
            </a:r>
            <a:r>
              <a:rPr sz="8000" b="0" spc="-30" dirty="0">
                <a:solidFill>
                  <a:srgbClr val="FF5757"/>
                </a:solidFill>
                <a:latin typeface="Arial MT"/>
                <a:cs typeface="Arial MT"/>
              </a:rPr>
              <a:t>-</a:t>
            </a:r>
            <a:r>
              <a:rPr sz="8000" b="0" spc="-10" dirty="0">
                <a:solidFill>
                  <a:srgbClr val="FF5757"/>
                </a:solidFill>
                <a:latin typeface="Arial MT"/>
                <a:cs typeface="Arial MT"/>
              </a:rPr>
              <a:t>-</a:t>
            </a:r>
            <a:r>
              <a:rPr sz="6000" b="0" spc="-700" dirty="0">
                <a:solidFill>
                  <a:srgbClr val="FF5757"/>
                </a:solidFill>
                <a:latin typeface="Arial MT"/>
                <a:cs typeface="Arial MT"/>
              </a:rPr>
              <a:t>T</a:t>
            </a:r>
            <a:r>
              <a:rPr sz="6000" b="0" spc="-35" dirty="0">
                <a:solidFill>
                  <a:srgbClr val="FF5757"/>
                </a:solidFill>
                <a:latin typeface="Arial MT"/>
                <a:cs typeface="Arial MT"/>
              </a:rPr>
              <a:t>echnology-</a:t>
            </a:r>
            <a:r>
              <a:rPr sz="6000" b="0" spc="-20" dirty="0">
                <a:solidFill>
                  <a:srgbClr val="FF5757"/>
                </a:solidFill>
                <a:latin typeface="Arial MT"/>
                <a:cs typeface="Arial MT"/>
              </a:rPr>
              <a:t>-</a:t>
            </a:r>
            <a:r>
              <a:rPr sz="6000" b="0" spc="-10" dirty="0">
                <a:solidFill>
                  <a:srgbClr val="FF5757"/>
                </a:solidFill>
                <a:latin typeface="Arial MT"/>
                <a:cs typeface="Arial MT"/>
              </a:rPr>
              <a:t>Components </a:t>
            </a:r>
            <a:r>
              <a:rPr sz="6000" b="0" spc="-20" dirty="0">
                <a:solidFill>
                  <a:srgbClr val="FF5757"/>
                </a:solidFill>
                <a:latin typeface="Arial MT"/>
                <a:cs typeface="Arial MT"/>
              </a:rPr>
              <a:t>Used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08239" y="8639"/>
            <a:ext cx="2580005" cy="10278745"/>
            <a:chOff x="15708239" y="8639"/>
            <a:chExt cx="2580005" cy="10278745"/>
          </a:xfrm>
        </p:grpSpPr>
        <p:sp>
          <p:nvSpPr>
            <p:cNvPr id="4" name="object 4"/>
            <p:cNvSpPr/>
            <p:nvPr/>
          </p:nvSpPr>
          <p:spPr>
            <a:xfrm>
              <a:off x="15708239" y="8639"/>
              <a:ext cx="2580005" cy="10278745"/>
            </a:xfrm>
            <a:custGeom>
              <a:avLst/>
              <a:gdLst/>
              <a:ahLst/>
              <a:cxnLst/>
              <a:rect l="l" t="t" r="r" b="b"/>
              <a:pathLst>
                <a:path w="2580005" h="10278745">
                  <a:moveTo>
                    <a:pt x="0" y="10278359"/>
                  </a:moveTo>
                  <a:lnTo>
                    <a:pt x="0" y="0"/>
                  </a:lnTo>
                  <a:lnTo>
                    <a:pt x="2579760" y="0"/>
                  </a:lnTo>
                  <a:lnTo>
                    <a:pt x="2579760" y="10278359"/>
                  </a:lnTo>
                  <a:lnTo>
                    <a:pt x="0" y="1027835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96600" y="2538720"/>
              <a:ext cx="2291399" cy="35701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8280" y="9647280"/>
              <a:ext cx="487079" cy="487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6640" y="0"/>
            <a:ext cx="452755" cy="10287000"/>
          </a:xfrm>
          <a:custGeom>
            <a:avLst/>
            <a:gdLst/>
            <a:ahLst/>
            <a:cxnLst/>
            <a:rect l="l" t="t" r="r" b="b"/>
            <a:pathLst>
              <a:path w="452755" h="10287000">
                <a:moveTo>
                  <a:pt x="452159" y="10286639"/>
                </a:moveTo>
                <a:lnTo>
                  <a:pt x="0" y="10286639"/>
                </a:lnTo>
                <a:lnTo>
                  <a:pt x="0" y="0"/>
                </a:lnTo>
                <a:lnTo>
                  <a:pt x="452159" y="0"/>
                </a:lnTo>
                <a:lnTo>
                  <a:pt x="452159" y="1028663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085450" y="0"/>
            <a:ext cx="7202805" cy="10287000"/>
            <a:chOff x="11085450" y="0"/>
            <a:chExt cx="7202805" cy="10287000"/>
          </a:xfrm>
        </p:grpSpPr>
        <p:sp>
          <p:nvSpPr>
            <p:cNvPr id="4" name="object 4"/>
            <p:cNvSpPr/>
            <p:nvPr/>
          </p:nvSpPr>
          <p:spPr>
            <a:xfrm>
              <a:off x="14025882" y="881202"/>
              <a:ext cx="4262120" cy="8524240"/>
            </a:xfrm>
            <a:custGeom>
              <a:avLst/>
              <a:gdLst/>
              <a:ahLst/>
              <a:cxnLst/>
              <a:rect l="l" t="t" r="r" b="b"/>
              <a:pathLst>
                <a:path w="4262119" h="8524240">
                  <a:moveTo>
                    <a:pt x="4262117" y="8524234"/>
                  </a:moveTo>
                  <a:lnTo>
                    <a:pt x="0" y="4262116"/>
                  </a:lnTo>
                  <a:lnTo>
                    <a:pt x="4262117" y="0"/>
                  </a:lnTo>
                  <a:lnTo>
                    <a:pt x="4262117" y="8524234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30343" y="1385123"/>
              <a:ext cx="3757929" cy="7515859"/>
            </a:xfrm>
            <a:custGeom>
              <a:avLst/>
              <a:gdLst/>
              <a:ahLst/>
              <a:cxnLst/>
              <a:rect l="l" t="t" r="r" b="b"/>
              <a:pathLst>
                <a:path w="3757930" h="7515859">
                  <a:moveTo>
                    <a:pt x="3757656" y="7515313"/>
                  </a:moveTo>
                  <a:lnTo>
                    <a:pt x="0" y="3757656"/>
                  </a:lnTo>
                  <a:lnTo>
                    <a:pt x="3757656" y="0"/>
                  </a:lnTo>
                  <a:lnTo>
                    <a:pt x="3757656" y="258132"/>
                  </a:lnTo>
                  <a:lnTo>
                    <a:pt x="260878" y="3754910"/>
                  </a:lnTo>
                  <a:lnTo>
                    <a:pt x="3757656" y="7251688"/>
                  </a:lnTo>
                  <a:lnTo>
                    <a:pt x="3757656" y="7515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85449" y="0"/>
              <a:ext cx="7042150" cy="10287000"/>
            </a:xfrm>
            <a:custGeom>
              <a:avLst/>
              <a:gdLst/>
              <a:ahLst/>
              <a:cxnLst/>
              <a:rect l="l" t="t" r="r" b="b"/>
              <a:pathLst>
                <a:path w="7042150" h="10287000">
                  <a:moveTo>
                    <a:pt x="7041299" y="0"/>
                  </a:moveTo>
                  <a:lnTo>
                    <a:pt x="6763639" y="0"/>
                  </a:lnTo>
                  <a:lnTo>
                    <a:pt x="3520821" y="3242830"/>
                  </a:lnTo>
                  <a:lnTo>
                    <a:pt x="278003" y="0"/>
                  </a:lnTo>
                  <a:lnTo>
                    <a:pt x="355" y="0"/>
                  </a:lnTo>
                  <a:lnTo>
                    <a:pt x="3520821" y="3520478"/>
                  </a:lnTo>
                  <a:lnTo>
                    <a:pt x="3798481" y="3242830"/>
                  </a:lnTo>
                  <a:lnTo>
                    <a:pt x="7041299" y="0"/>
                  </a:lnTo>
                  <a:close/>
                </a:path>
                <a:path w="7042150" h="10287000">
                  <a:moveTo>
                    <a:pt x="7041655" y="10287000"/>
                  </a:moveTo>
                  <a:lnTo>
                    <a:pt x="3792690" y="7038048"/>
                  </a:lnTo>
                  <a:lnTo>
                    <a:pt x="3520821" y="6766179"/>
                  </a:lnTo>
                  <a:lnTo>
                    <a:pt x="0" y="10287000"/>
                  </a:lnTo>
                  <a:lnTo>
                    <a:pt x="271856" y="10287000"/>
                  </a:lnTo>
                  <a:lnTo>
                    <a:pt x="3520821" y="7038048"/>
                  </a:lnTo>
                  <a:lnTo>
                    <a:pt x="6769786" y="10287000"/>
                  </a:lnTo>
                  <a:lnTo>
                    <a:pt x="7041655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877915" y="2272042"/>
              <a:ext cx="3963035" cy="5275580"/>
            </a:xfrm>
            <a:custGeom>
              <a:avLst/>
              <a:gdLst/>
              <a:ahLst/>
              <a:cxnLst/>
              <a:rect l="l" t="t" r="r" b="b"/>
              <a:pathLst>
                <a:path w="3963034" h="5275580">
                  <a:moveTo>
                    <a:pt x="3962514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0" y="5207000"/>
                  </a:lnTo>
                  <a:lnTo>
                    <a:pt x="0" y="5275580"/>
                  </a:lnTo>
                  <a:lnTo>
                    <a:pt x="3962514" y="5275580"/>
                  </a:lnTo>
                  <a:lnTo>
                    <a:pt x="3962514" y="5207000"/>
                  </a:lnTo>
                  <a:lnTo>
                    <a:pt x="68668" y="5207000"/>
                  </a:lnTo>
                  <a:lnTo>
                    <a:pt x="68668" y="68580"/>
                  </a:lnTo>
                  <a:lnTo>
                    <a:pt x="3893845" y="68580"/>
                  </a:lnTo>
                  <a:lnTo>
                    <a:pt x="3893845" y="5206682"/>
                  </a:lnTo>
                  <a:lnTo>
                    <a:pt x="3962514" y="5206682"/>
                  </a:lnTo>
                  <a:lnTo>
                    <a:pt x="3962514" y="68580"/>
                  </a:lnTo>
                  <a:lnTo>
                    <a:pt x="3962514" y="68237"/>
                  </a:lnTo>
                  <a:lnTo>
                    <a:pt x="3962514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-179" y="252990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-179" y="49850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-179" y="743993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3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3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62250" y="262058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2250" y="507578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2250" y="7530979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062243" y="917923"/>
            <a:ext cx="4225925" cy="8451850"/>
          </a:xfrm>
          <a:custGeom>
            <a:avLst/>
            <a:gdLst/>
            <a:ahLst/>
            <a:cxnLst/>
            <a:rect l="l" t="t" r="r" b="b"/>
            <a:pathLst>
              <a:path w="4225925" h="8451850">
                <a:moveTo>
                  <a:pt x="4225756" y="8451514"/>
                </a:moveTo>
                <a:lnTo>
                  <a:pt x="0" y="4225756"/>
                </a:lnTo>
                <a:lnTo>
                  <a:pt x="4225756" y="0"/>
                </a:lnTo>
                <a:lnTo>
                  <a:pt x="4225756" y="8451514"/>
                </a:lnTo>
                <a:close/>
              </a:path>
            </a:pathLst>
          </a:custGeom>
          <a:solidFill>
            <a:srgbClr val="527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156950" y="3700949"/>
            <a:ext cx="9411970" cy="1106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35"/>
              </a:spcBef>
            </a:pPr>
            <a:r>
              <a:rPr sz="2650" spc="-10" dirty="0"/>
              <a:t>TOOLS:</a:t>
            </a:r>
            <a:endParaRPr sz="2650"/>
          </a:p>
          <a:p>
            <a:pPr marL="12065" marR="5080" algn="ctr">
              <a:lnSpc>
                <a:spcPct val="100000"/>
              </a:lnSpc>
              <a:spcBef>
                <a:spcPts val="20"/>
              </a:spcBef>
              <a:tabLst>
                <a:tab pos="5179060" algn="l"/>
                <a:tab pos="7838440" algn="l"/>
              </a:tabLst>
            </a:pPr>
            <a:r>
              <a:rPr sz="2200" dirty="0"/>
              <a:t>Dustbin,</a:t>
            </a:r>
            <a:r>
              <a:rPr sz="2200" spc="165" dirty="0"/>
              <a:t> </a:t>
            </a:r>
            <a:r>
              <a:rPr sz="2200" dirty="0"/>
              <a:t>ARDUINO-IDE,</a:t>
            </a:r>
            <a:r>
              <a:rPr sz="2200" spc="170" dirty="0"/>
              <a:t> </a:t>
            </a:r>
            <a:r>
              <a:rPr sz="2200" dirty="0"/>
              <a:t>Servo</a:t>
            </a:r>
            <a:r>
              <a:rPr sz="2200" spc="170" dirty="0"/>
              <a:t> </a:t>
            </a:r>
            <a:r>
              <a:rPr sz="2200" spc="-10" dirty="0"/>
              <a:t>Motor,</a:t>
            </a:r>
            <a:r>
              <a:rPr sz="2200" dirty="0"/>
              <a:t>	Ultrasonic</a:t>
            </a:r>
            <a:r>
              <a:rPr sz="2200" spc="125" dirty="0"/>
              <a:t> </a:t>
            </a:r>
            <a:r>
              <a:rPr sz="2200" spc="-10" dirty="0"/>
              <a:t>Sensor,</a:t>
            </a:r>
            <a:r>
              <a:rPr sz="2200" dirty="0"/>
              <a:t>	</a:t>
            </a:r>
            <a:r>
              <a:rPr sz="2200" spc="-10" dirty="0"/>
              <a:t>Connecting wires.</a:t>
            </a:r>
            <a:endParaRPr sz="2200"/>
          </a:p>
        </p:txBody>
      </p:sp>
      <p:sp>
        <p:nvSpPr>
          <p:cNvPr id="16" name="object 16"/>
          <p:cNvSpPr txBox="1"/>
          <p:nvPr/>
        </p:nvSpPr>
        <p:spPr>
          <a:xfrm>
            <a:off x="3191724" y="5114002"/>
            <a:ext cx="7347584" cy="1776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35"/>
              </a:spcBef>
            </a:pPr>
            <a:r>
              <a:rPr sz="2650" b="1" dirty="0">
                <a:latin typeface="Arial"/>
                <a:cs typeface="Arial"/>
              </a:rPr>
              <a:t>TOOLS</a:t>
            </a:r>
            <a:r>
              <a:rPr sz="2650" b="1" spc="120" dirty="0">
                <a:latin typeface="Arial"/>
                <a:cs typeface="Arial"/>
              </a:rPr>
              <a:t> </a:t>
            </a:r>
            <a:r>
              <a:rPr sz="2650" b="1" spc="60" dirty="0">
                <a:latin typeface="Arial"/>
                <a:cs typeface="Arial"/>
              </a:rPr>
              <a:t>FUNCTIONING</a:t>
            </a:r>
            <a:r>
              <a:rPr sz="2200" b="1" spc="6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635" algn="ctr">
              <a:lnSpc>
                <a:spcPts val="2640"/>
              </a:lnSpc>
              <a:spcBef>
                <a:spcPts val="20"/>
              </a:spcBef>
            </a:pPr>
            <a:r>
              <a:rPr sz="2200" b="1" spc="-10" dirty="0">
                <a:latin typeface="Arial"/>
                <a:cs typeface="Arial"/>
              </a:rPr>
              <a:t>-</a:t>
            </a:r>
            <a:r>
              <a:rPr sz="2200" b="1" dirty="0">
                <a:latin typeface="Arial"/>
                <a:cs typeface="Arial"/>
              </a:rPr>
              <a:t>-</a:t>
            </a:r>
            <a:r>
              <a:rPr sz="2200" b="1" spc="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Ultrasonic</a:t>
            </a:r>
            <a:r>
              <a:rPr sz="2200" b="1" spc="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sensor</a:t>
            </a:r>
            <a:r>
              <a:rPr sz="2200" b="1" spc="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to</a:t>
            </a:r>
            <a:r>
              <a:rPr sz="2200" b="1" spc="65" dirty="0">
                <a:latin typeface="Arial"/>
                <a:cs typeface="Arial"/>
              </a:rPr>
              <a:t> </a:t>
            </a:r>
            <a:r>
              <a:rPr sz="2200" b="1" spc="50" dirty="0">
                <a:latin typeface="Arial"/>
                <a:cs typeface="Arial"/>
              </a:rPr>
              <a:t>detect</a:t>
            </a:r>
            <a:r>
              <a:rPr sz="2200" b="1" spc="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the</a:t>
            </a:r>
            <a:r>
              <a:rPr sz="2200" b="1" spc="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human</a:t>
            </a:r>
            <a:r>
              <a:rPr sz="2200" b="1" spc="6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sense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635"/>
              </a:lnSpc>
            </a:pPr>
            <a:r>
              <a:rPr sz="2200" b="1" dirty="0">
                <a:latin typeface="Arial"/>
                <a:cs typeface="Arial"/>
              </a:rPr>
              <a:t>--Servo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Motor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helps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in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opening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the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lid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of</a:t>
            </a:r>
            <a:r>
              <a:rPr sz="2200" b="1" spc="28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the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dustbin.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635"/>
              </a:lnSpc>
            </a:pPr>
            <a:r>
              <a:rPr sz="2200" b="1" dirty="0">
                <a:latin typeface="Arial"/>
                <a:cs typeface="Arial"/>
              </a:rPr>
              <a:t>--ARDUINO</a:t>
            </a:r>
            <a:r>
              <a:rPr sz="2200" b="1" spc="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developing</a:t>
            </a:r>
            <a:r>
              <a:rPr sz="2200" b="1" spc="7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board</a:t>
            </a:r>
            <a:r>
              <a:rPr sz="2200" b="1" spc="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to</a:t>
            </a:r>
            <a:r>
              <a:rPr sz="2200" b="1" spc="7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do</a:t>
            </a:r>
            <a:r>
              <a:rPr sz="2200" b="1" spc="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all</a:t>
            </a:r>
            <a:r>
              <a:rPr sz="2200" b="1" spc="7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the</a:t>
            </a:r>
            <a:r>
              <a:rPr sz="2200" b="1" spc="7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processing.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640"/>
              </a:lnSpc>
              <a:tabLst>
                <a:tab pos="3491865" algn="l"/>
              </a:tabLst>
            </a:pPr>
            <a:r>
              <a:rPr sz="2200" b="1" spc="-10" dirty="0">
                <a:latin typeface="Arial"/>
                <a:cs typeface="Arial"/>
              </a:rPr>
              <a:t>--</a:t>
            </a:r>
            <a:r>
              <a:rPr sz="2200" b="1" dirty="0">
                <a:latin typeface="Arial"/>
                <a:cs typeface="Arial"/>
              </a:rPr>
              <a:t>Software</a:t>
            </a:r>
            <a:r>
              <a:rPr sz="2200" b="1" spc="1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for</a:t>
            </a:r>
            <a:r>
              <a:rPr sz="2200" b="1" spc="13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simulation</a:t>
            </a:r>
            <a:r>
              <a:rPr sz="2200" b="1" dirty="0">
                <a:latin typeface="Arial"/>
                <a:cs typeface="Arial"/>
              </a:rPr>
              <a:t>	is</a:t>
            </a:r>
            <a:r>
              <a:rPr sz="2200" b="1" spc="1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ARDUINO-</a:t>
            </a:r>
            <a:r>
              <a:rPr sz="2200" b="1" spc="-25" dirty="0">
                <a:latin typeface="Arial"/>
                <a:cs typeface="Arial"/>
              </a:rPr>
              <a:t>IDE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6640" y="0"/>
            <a:ext cx="452755" cy="10287000"/>
          </a:xfrm>
          <a:custGeom>
            <a:avLst/>
            <a:gdLst/>
            <a:ahLst/>
            <a:cxnLst/>
            <a:rect l="l" t="t" r="r" b="b"/>
            <a:pathLst>
              <a:path w="452755" h="10287000">
                <a:moveTo>
                  <a:pt x="452159" y="10286639"/>
                </a:moveTo>
                <a:lnTo>
                  <a:pt x="0" y="10286639"/>
                </a:lnTo>
                <a:lnTo>
                  <a:pt x="0" y="0"/>
                </a:lnTo>
                <a:lnTo>
                  <a:pt x="452159" y="0"/>
                </a:lnTo>
                <a:lnTo>
                  <a:pt x="452159" y="1028663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085450" y="0"/>
            <a:ext cx="7202805" cy="10287000"/>
            <a:chOff x="11085450" y="0"/>
            <a:chExt cx="7202805" cy="10287000"/>
          </a:xfrm>
        </p:grpSpPr>
        <p:sp>
          <p:nvSpPr>
            <p:cNvPr id="4" name="object 4"/>
            <p:cNvSpPr/>
            <p:nvPr/>
          </p:nvSpPr>
          <p:spPr>
            <a:xfrm>
              <a:off x="14025882" y="881202"/>
              <a:ext cx="4262120" cy="8524240"/>
            </a:xfrm>
            <a:custGeom>
              <a:avLst/>
              <a:gdLst/>
              <a:ahLst/>
              <a:cxnLst/>
              <a:rect l="l" t="t" r="r" b="b"/>
              <a:pathLst>
                <a:path w="4262119" h="8524240">
                  <a:moveTo>
                    <a:pt x="4262117" y="8524234"/>
                  </a:moveTo>
                  <a:lnTo>
                    <a:pt x="0" y="4262116"/>
                  </a:lnTo>
                  <a:lnTo>
                    <a:pt x="4262117" y="0"/>
                  </a:lnTo>
                  <a:lnTo>
                    <a:pt x="4262117" y="8524234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30343" y="1385123"/>
              <a:ext cx="3757929" cy="7515859"/>
            </a:xfrm>
            <a:custGeom>
              <a:avLst/>
              <a:gdLst/>
              <a:ahLst/>
              <a:cxnLst/>
              <a:rect l="l" t="t" r="r" b="b"/>
              <a:pathLst>
                <a:path w="3757930" h="7515859">
                  <a:moveTo>
                    <a:pt x="3757656" y="7515313"/>
                  </a:moveTo>
                  <a:lnTo>
                    <a:pt x="0" y="3757656"/>
                  </a:lnTo>
                  <a:lnTo>
                    <a:pt x="3757656" y="0"/>
                  </a:lnTo>
                  <a:lnTo>
                    <a:pt x="3757656" y="258132"/>
                  </a:lnTo>
                  <a:lnTo>
                    <a:pt x="260878" y="3754910"/>
                  </a:lnTo>
                  <a:lnTo>
                    <a:pt x="3757656" y="7251688"/>
                  </a:lnTo>
                  <a:lnTo>
                    <a:pt x="3757656" y="7515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85449" y="0"/>
              <a:ext cx="7042150" cy="10287000"/>
            </a:xfrm>
            <a:custGeom>
              <a:avLst/>
              <a:gdLst/>
              <a:ahLst/>
              <a:cxnLst/>
              <a:rect l="l" t="t" r="r" b="b"/>
              <a:pathLst>
                <a:path w="7042150" h="10287000">
                  <a:moveTo>
                    <a:pt x="7041299" y="0"/>
                  </a:moveTo>
                  <a:lnTo>
                    <a:pt x="6763639" y="0"/>
                  </a:lnTo>
                  <a:lnTo>
                    <a:pt x="3520821" y="3242830"/>
                  </a:lnTo>
                  <a:lnTo>
                    <a:pt x="278003" y="0"/>
                  </a:lnTo>
                  <a:lnTo>
                    <a:pt x="355" y="0"/>
                  </a:lnTo>
                  <a:lnTo>
                    <a:pt x="3520821" y="3520478"/>
                  </a:lnTo>
                  <a:lnTo>
                    <a:pt x="3798481" y="3242830"/>
                  </a:lnTo>
                  <a:lnTo>
                    <a:pt x="7041299" y="0"/>
                  </a:lnTo>
                  <a:close/>
                </a:path>
                <a:path w="7042150" h="10287000">
                  <a:moveTo>
                    <a:pt x="7041655" y="10287000"/>
                  </a:moveTo>
                  <a:lnTo>
                    <a:pt x="3792690" y="7038048"/>
                  </a:lnTo>
                  <a:lnTo>
                    <a:pt x="3520821" y="6766179"/>
                  </a:lnTo>
                  <a:lnTo>
                    <a:pt x="0" y="10287000"/>
                  </a:lnTo>
                  <a:lnTo>
                    <a:pt x="271856" y="10287000"/>
                  </a:lnTo>
                  <a:lnTo>
                    <a:pt x="3520821" y="7038048"/>
                  </a:lnTo>
                  <a:lnTo>
                    <a:pt x="6769786" y="10287000"/>
                  </a:lnTo>
                  <a:lnTo>
                    <a:pt x="7041655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877915" y="2272042"/>
              <a:ext cx="3963035" cy="5275580"/>
            </a:xfrm>
            <a:custGeom>
              <a:avLst/>
              <a:gdLst/>
              <a:ahLst/>
              <a:cxnLst/>
              <a:rect l="l" t="t" r="r" b="b"/>
              <a:pathLst>
                <a:path w="3963034" h="5275580">
                  <a:moveTo>
                    <a:pt x="3962514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0" y="5207000"/>
                  </a:lnTo>
                  <a:lnTo>
                    <a:pt x="0" y="5275580"/>
                  </a:lnTo>
                  <a:lnTo>
                    <a:pt x="3962514" y="5275580"/>
                  </a:lnTo>
                  <a:lnTo>
                    <a:pt x="3962514" y="5207000"/>
                  </a:lnTo>
                  <a:lnTo>
                    <a:pt x="68668" y="5207000"/>
                  </a:lnTo>
                  <a:lnTo>
                    <a:pt x="68668" y="68580"/>
                  </a:lnTo>
                  <a:lnTo>
                    <a:pt x="3893845" y="68580"/>
                  </a:lnTo>
                  <a:lnTo>
                    <a:pt x="3893845" y="5206682"/>
                  </a:lnTo>
                  <a:lnTo>
                    <a:pt x="3962514" y="5206682"/>
                  </a:lnTo>
                  <a:lnTo>
                    <a:pt x="3962514" y="68580"/>
                  </a:lnTo>
                  <a:lnTo>
                    <a:pt x="3962514" y="68237"/>
                  </a:lnTo>
                  <a:lnTo>
                    <a:pt x="3962514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-179" y="252990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-179" y="49850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-179" y="743993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3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3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62250" y="262058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2250" y="507578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2250" y="7530979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61997" y="917923"/>
            <a:ext cx="15326360" cy="8451850"/>
            <a:chOff x="2961997" y="917923"/>
            <a:chExt cx="15326360" cy="8451850"/>
          </a:xfrm>
        </p:grpSpPr>
        <p:sp>
          <p:nvSpPr>
            <p:cNvPr id="15" name="object 15"/>
            <p:cNvSpPr/>
            <p:nvPr/>
          </p:nvSpPr>
          <p:spPr>
            <a:xfrm>
              <a:off x="2966759" y="1974239"/>
              <a:ext cx="10248265" cy="1867535"/>
            </a:xfrm>
            <a:custGeom>
              <a:avLst/>
              <a:gdLst/>
              <a:ahLst/>
              <a:cxnLst/>
              <a:rect l="l" t="t" r="r" b="b"/>
              <a:pathLst>
                <a:path w="10248265" h="1867535">
                  <a:moveTo>
                    <a:pt x="0" y="0"/>
                  </a:moveTo>
                  <a:lnTo>
                    <a:pt x="10248119" y="0"/>
                  </a:lnTo>
                  <a:lnTo>
                    <a:pt x="10248119" y="1867319"/>
                  </a:lnTo>
                  <a:lnTo>
                    <a:pt x="0" y="186731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062243" y="917923"/>
              <a:ext cx="4225925" cy="8451850"/>
            </a:xfrm>
            <a:custGeom>
              <a:avLst/>
              <a:gdLst/>
              <a:ahLst/>
              <a:cxnLst/>
              <a:rect l="l" t="t" r="r" b="b"/>
              <a:pathLst>
                <a:path w="4225925" h="8451850">
                  <a:moveTo>
                    <a:pt x="4225756" y="8451514"/>
                  </a:moveTo>
                  <a:lnTo>
                    <a:pt x="0" y="4225756"/>
                  </a:lnTo>
                  <a:lnTo>
                    <a:pt x="4225756" y="0"/>
                  </a:lnTo>
                  <a:lnTo>
                    <a:pt x="4225756" y="8451514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229065" y="1483557"/>
            <a:ext cx="9811385" cy="6880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1967230" indent="-267970">
              <a:lnSpc>
                <a:spcPct val="121500"/>
              </a:lnSpc>
              <a:spcBef>
                <a:spcPts val="90"/>
              </a:spcBef>
              <a:buFont typeface="Arial MT"/>
              <a:buChar char="•"/>
              <a:tabLst>
                <a:tab pos="927100" algn="l"/>
              </a:tabLst>
            </a:pPr>
            <a:r>
              <a:rPr sz="3900" dirty="0">
                <a:solidFill>
                  <a:srgbClr val="7030A0"/>
                </a:solidFill>
                <a:latin typeface="Calibri"/>
                <a:cs typeface="Calibri"/>
              </a:rPr>
              <a:t>TECHNOLOGY</a:t>
            </a:r>
            <a:r>
              <a:rPr sz="3900" spc="3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3900" dirty="0">
                <a:solidFill>
                  <a:srgbClr val="7030A0"/>
                </a:solidFill>
                <a:latin typeface="Calibri"/>
                <a:cs typeface="Calibri"/>
              </a:rPr>
              <a:t>USED</a:t>
            </a:r>
            <a:r>
              <a:rPr sz="3900" spc="3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3900" dirty="0">
                <a:solidFill>
                  <a:srgbClr val="7030A0"/>
                </a:solidFill>
                <a:latin typeface="Calibri"/>
                <a:cs typeface="Calibri"/>
              </a:rPr>
              <a:t>AND</a:t>
            </a:r>
            <a:r>
              <a:rPr sz="3900" spc="3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3900" spc="-45" dirty="0">
                <a:solidFill>
                  <a:srgbClr val="7030A0"/>
                </a:solidFill>
                <a:latin typeface="Calibri"/>
                <a:cs typeface="Calibri"/>
              </a:rPr>
              <a:t>FEATURES-</a:t>
            </a:r>
            <a:r>
              <a:rPr sz="3900" spc="-50" dirty="0">
                <a:solidFill>
                  <a:srgbClr val="7030A0"/>
                </a:solidFill>
                <a:latin typeface="Calibri"/>
                <a:cs typeface="Calibri"/>
              </a:rPr>
              <a:t>- 	</a:t>
            </a:r>
            <a:r>
              <a:rPr sz="3900" spc="-30" dirty="0">
                <a:solidFill>
                  <a:srgbClr val="7030A0"/>
                </a:solidFill>
                <a:latin typeface="Calibri"/>
                <a:cs typeface="Calibri"/>
              </a:rPr>
              <a:t>WOKWI—</a:t>
            </a:r>
            <a:r>
              <a:rPr sz="3900" spc="-10" dirty="0">
                <a:solidFill>
                  <a:srgbClr val="7030A0"/>
                </a:solidFill>
                <a:latin typeface="Calibri"/>
                <a:cs typeface="Calibri"/>
              </a:rPr>
              <a:t>SIMULATOR</a:t>
            </a:r>
            <a:endParaRPr sz="3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WOKWI</a:t>
            </a:r>
            <a:r>
              <a:rPr sz="295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IA</a:t>
            </a:r>
            <a:r>
              <a:rPr sz="2950" spc="-4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AN</a:t>
            </a:r>
            <a:r>
              <a:rPr sz="2950" spc="-4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ONLINE</a:t>
            </a:r>
            <a:r>
              <a:rPr sz="2950" spc="-4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ELECTRONICS</a:t>
            </a:r>
            <a:r>
              <a:rPr sz="2950" spc="-45" dirty="0">
                <a:solidFill>
                  <a:srgbClr val="1F497D"/>
                </a:solidFill>
                <a:latin typeface="Calibri"/>
                <a:cs typeface="Calibri"/>
              </a:rPr>
              <a:t> SIMULATOR.WE</a:t>
            </a:r>
            <a:r>
              <a:rPr sz="2950" spc="-4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sz="2950" spc="-4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USE</a:t>
            </a:r>
            <a:r>
              <a:rPr sz="2950" spc="2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25" dirty="0">
                <a:solidFill>
                  <a:srgbClr val="1F497D"/>
                </a:solidFill>
                <a:latin typeface="Calibri"/>
                <a:cs typeface="Calibri"/>
              </a:rPr>
              <a:t>IT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TO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25" dirty="0">
                <a:solidFill>
                  <a:srgbClr val="1F497D"/>
                </a:solidFill>
                <a:latin typeface="Calibri"/>
                <a:cs typeface="Calibri"/>
              </a:rPr>
              <a:t>SIMULATE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BOARDS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LIKE: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ARDUINO,ESP32,AND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ARDUINO </a:t>
            </a:r>
            <a:r>
              <a:rPr sz="2950" spc="-20" dirty="0">
                <a:solidFill>
                  <a:srgbClr val="1F497D"/>
                </a:solidFill>
                <a:latin typeface="Calibri"/>
                <a:cs typeface="Calibri"/>
              </a:rPr>
              <a:t>UNO.</a:t>
            </a:r>
            <a:endParaRPr sz="2950">
              <a:latin typeface="Calibri"/>
              <a:cs typeface="Calibri"/>
            </a:endParaRPr>
          </a:p>
          <a:p>
            <a:pPr marL="12700" marR="320040">
              <a:lnSpc>
                <a:spcPct val="100000"/>
              </a:lnSpc>
              <a:spcBef>
                <a:spcPts val="725"/>
              </a:spcBef>
            </a:pP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~We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simulate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projects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which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be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connected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to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internet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via</a:t>
            </a:r>
            <a:r>
              <a:rPr sz="295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35" dirty="0">
                <a:solidFill>
                  <a:srgbClr val="1F497D"/>
                </a:solidFill>
                <a:latin typeface="Calibri"/>
                <a:cs typeface="Calibri"/>
              </a:rPr>
              <a:t>HTTP,NTP</a:t>
            </a:r>
            <a:r>
              <a:rPr sz="2950" spc="-4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and</a:t>
            </a:r>
            <a:r>
              <a:rPr sz="2950" spc="-4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other</a:t>
            </a:r>
            <a:r>
              <a:rPr sz="2950" spc="-4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protocols.</a:t>
            </a:r>
            <a:endParaRPr sz="2950">
              <a:latin typeface="Calibri"/>
              <a:cs typeface="Calibri"/>
            </a:endParaRPr>
          </a:p>
          <a:p>
            <a:pPr marL="12700" marR="1038860">
              <a:lnSpc>
                <a:spcPct val="100000"/>
              </a:lnSpc>
              <a:spcBef>
                <a:spcPts val="725"/>
              </a:spcBef>
            </a:pP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~Simulator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work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on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microcontroller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projects</a:t>
            </a:r>
            <a:r>
              <a:rPr sz="295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from</a:t>
            </a:r>
            <a:r>
              <a:rPr sz="2950" spc="-6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25" dirty="0">
                <a:solidFill>
                  <a:srgbClr val="1F497D"/>
                </a:solidFill>
                <a:latin typeface="Calibri"/>
                <a:cs typeface="Calibri"/>
              </a:rPr>
              <a:t>the </a:t>
            </a:r>
            <a:r>
              <a:rPr sz="2950" spc="-35" dirty="0">
                <a:solidFill>
                  <a:srgbClr val="1F497D"/>
                </a:solidFill>
                <a:latin typeface="Calibri"/>
                <a:cs typeface="Calibri"/>
              </a:rPr>
              <a:t>browser,</a:t>
            </a:r>
            <a:r>
              <a:rPr sz="2950" spc="-9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no</a:t>
            </a:r>
            <a:r>
              <a:rPr sz="2950" spc="-8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hardware</a:t>
            </a:r>
            <a:r>
              <a:rPr sz="2950" spc="-8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components</a:t>
            </a:r>
            <a:r>
              <a:rPr sz="2950" spc="-8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required.</a:t>
            </a:r>
            <a:endParaRPr sz="2950">
              <a:latin typeface="Calibri"/>
              <a:cs typeface="Calibri"/>
            </a:endParaRPr>
          </a:p>
          <a:p>
            <a:pPr marL="12700" marR="447040">
              <a:lnSpc>
                <a:spcPct val="100000"/>
              </a:lnSpc>
              <a:spcBef>
                <a:spcPts val="725"/>
              </a:spcBef>
            </a:pP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~Through</a:t>
            </a:r>
            <a:r>
              <a:rPr sz="295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this</a:t>
            </a:r>
            <a:r>
              <a:rPr sz="295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20" dirty="0">
                <a:solidFill>
                  <a:srgbClr val="1F497D"/>
                </a:solidFill>
                <a:latin typeface="Calibri"/>
                <a:cs typeface="Calibri"/>
              </a:rPr>
              <a:t>built-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in</a:t>
            </a:r>
            <a:r>
              <a:rPr sz="295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visual</a:t>
            </a:r>
            <a:r>
              <a:rPr sz="295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logic</a:t>
            </a:r>
            <a:r>
              <a:rPr sz="295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analyser</a:t>
            </a:r>
            <a:r>
              <a:rPr sz="295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we</a:t>
            </a:r>
            <a:r>
              <a:rPr sz="295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sz="295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capture</a:t>
            </a:r>
            <a:r>
              <a:rPr sz="295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25" dirty="0">
                <a:solidFill>
                  <a:srgbClr val="1F497D"/>
                </a:solidFill>
                <a:latin typeface="Calibri"/>
                <a:cs typeface="Calibri"/>
              </a:rPr>
              <a:t>the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digital</a:t>
            </a:r>
            <a:r>
              <a:rPr sz="295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signals</a:t>
            </a:r>
            <a:r>
              <a:rPr sz="2950" spc="-4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in</a:t>
            </a:r>
            <a:r>
              <a:rPr sz="2950" spc="-3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simulation.</a:t>
            </a:r>
            <a:endParaRPr sz="2950">
              <a:latin typeface="Calibri"/>
              <a:cs typeface="Calibri"/>
            </a:endParaRPr>
          </a:p>
          <a:p>
            <a:pPr marL="12700" marR="50800">
              <a:lnSpc>
                <a:spcPct val="100000"/>
              </a:lnSpc>
              <a:spcBef>
                <a:spcPts val="725"/>
              </a:spcBef>
            </a:pP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~Multiple</a:t>
            </a:r>
            <a:r>
              <a:rPr sz="2950" spc="-7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boards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,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motors,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sensors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and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many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more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are</a:t>
            </a:r>
            <a:r>
              <a:rPr sz="295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available </a:t>
            </a:r>
            <a:r>
              <a:rPr sz="2950" dirty="0">
                <a:solidFill>
                  <a:srgbClr val="1F497D"/>
                </a:solidFill>
                <a:latin typeface="Calibri"/>
                <a:cs typeface="Calibri"/>
              </a:rPr>
              <a:t>in</a:t>
            </a:r>
            <a:r>
              <a:rPr sz="2950" spc="-10" dirty="0">
                <a:solidFill>
                  <a:srgbClr val="1F497D"/>
                </a:solidFill>
                <a:latin typeface="Calibri"/>
                <a:cs typeface="Calibri"/>
              </a:rPr>
              <a:t> simulator</a:t>
            </a:r>
            <a:endParaRPr sz="295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7920" y="2313720"/>
            <a:ext cx="5410079" cy="52678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6640" y="0"/>
            <a:ext cx="452755" cy="10287000"/>
          </a:xfrm>
          <a:custGeom>
            <a:avLst/>
            <a:gdLst/>
            <a:ahLst/>
            <a:cxnLst/>
            <a:rect l="l" t="t" r="r" b="b"/>
            <a:pathLst>
              <a:path w="452755" h="10287000">
                <a:moveTo>
                  <a:pt x="452159" y="10286639"/>
                </a:moveTo>
                <a:lnTo>
                  <a:pt x="0" y="10286639"/>
                </a:lnTo>
                <a:lnTo>
                  <a:pt x="0" y="0"/>
                </a:lnTo>
                <a:lnTo>
                  <a:pt x="452159" y="0"/>
                </a:lnTo>
                <a:lnTo>
                  <a:pt x="452159" y="1028663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085450" y="0"/>
            <a:ext cx="7202805" cy="10287000"/>
            <a:chOff x="11085450" y="0"/>
            <a:chExt cx="7202805" cy="10287000"/>
          </a:xfrm>
        </p:grpSpPr>
        <p:sp>
          <p:nvSpPr>
            <p:cNvPr id="4" name="object 4"/>
            <p:cNvSpPr/>
            <p:nvPr/>
          </p:nvSpPr>
          <p:spPr>
            <a:xfrm>
              <a:off x="14025882" y="881202"/>
              <a:ext cx="4262120" cy="8524240"/>
            </a:xfrm>
            <a:custGeom>
              <a:avLst/>
              <a:gdLst/>
              <a:ahLst/>
              <a:cxnLst/>
              <a:rect l="l" t="t" r="r" b="b"/>
              <a:pathLst>
                <a:path w="4262119" h="8524240">
                  <a:moveTo>
                    <a:pt x="4262117" y="8524234"/>
                  </a:moveTo>
                  <a:lnTo>
                    <a:pt x="0" y="4262116"/>
                  </a:lnTo>
                  <a:lnTo>
                    <a:pt x="4262117" y="0"/>
                  </a:lnTo>
                  <a:lnTo>
                    <a:pt x="4262117" y="8524234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30343" y="1385123"/>
              <a:ext cx="3757929" cy="7515859"/>
            </a:xfrm>
            <a:custGeom>
              <a:avLst/>
              <a:gdLst/>
              <a:ahLst/>
              <a:cxnLst/>
              <a:rect l="l" t="t" r="r" b="b"/>
              <a:pathLst>
                <a:path w="3757930" h="7515859">
                  <a:moveTo>
                    <a:pt x="3757656" y="7515313"/>
                  </a:moveTo>
                  <a:lnTo>
                    <a:pt x="0" y="3757656"/>
                  </a:lnTo>
                  <a:lnTo>
                    <a:pt x="3757656" y="0"/>
                  </a:lnTo>
                  <a:lnTo>
                    <a:pt x="3757656" y="258132"/>
                  </a:lnTo>
                  <a:lnTo>
                    <a:pt x="260878" y="3754910"/>
                  </a:lnTo>
                  <a:lnTo>
                    <a:pt x="3757656" y="7251688"/>
                  </a:lnTo>
                  <a:lnTo>
                    <a:pt x="3757656" y="7515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85449" y="0"/>
              <a:ext cx="7042150" cy="10287000"/>
            </a:xfrm>
            <a:custGeom>
              <a:avLst/>
              <a:gdLst/>
              <a:ahLst/>
              <a:cxnLst/>
              <a:rect l="l" t="t" r="r" b="b"/>
              <a:pathLst>
                <a:path w="7042150" h="10287000">
                  <a:moveTo>
                    <a:pt x="7041299" y="0"/>
                  </a:moveTo>
                  <a:lnTo>
                    <a:pt x="6763639" y="0"/>
                  </a:lnTo>
                  <a:lnTo>
                    <a:pt x="3520821" y="3242830"/>
                  </a:lnTo>
                  <a:lnTo>
                    <a:pt x="278003" y="0"/>
                  </a:lnTo>
                  <a:lnTo>
                    <a:pt x="355" y="0"/>
                  </a:lnTo>
                  <a:lnTo>
                    <a:pt x="3520821" y="3520478"/>
                  </a:lnTo>
                  <a:lnTo>
                    <a:pt x="3798481" y="3242830"/>
                  </a:lnTo>
                  <a:lnTo>
                    <a:pt x="7041299" y="0"/>
                  </a:lnTo>
                  <a:close/>
                </a:path>
                <a:path w="7042150" h="10287000">
                  <a:moveTo>
                    <a:pt x="7041655" y="10287000"/>
                  </a:moveTo>
                  <a:lnTo>
                    <a:pt x="3792690" y="7038048"/>
                  </a:lnTo>
                  <a:lnTo>
                    <a:pt x="3520821" y="6766179"/>
                  </a:lnTo>
                  <a:lnTo>
                    <a:pt x="0" y="10287000"/>
                  </a:lnTo>
                  <a:lnTo>
                    <a:pt x="271856" y="10287000"/>
                  </a:lnTo>
                  <a:lnTo>
                    <a:pt x="3520821" y="7038048"/>
                  </a:lnTo>
                  <a:lnTo>
                    <a:pt x="6769786" y="10287000"/>
                  </a:lnTo>
                  <a:lnTo>
                    <a:pt x="7041655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877915" y="2272042"/>
              <a:ext cx="3963035" cy="5275580"/>
            </a:xfrm>
            <a:custGeom>
              <a:avLst/>
              <a:gdLst/>
              <a:ahLst/>
              <a:cxnLst/>
              <a:rect l="l" t="t" r="r" b="b"/>
              <a:pathLst>
                <a:path w="3963034" h="5275580">
                  <a:moveTo>
                    <a:pt x="3962514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0" y="5207000"/>
                  </a:lnTo>
                  <a:lnTo>
                    <a:pt x="0" y="5275580"/>
                  </a:lnTo>
                  <a:lnTo>
                    <a:pt x="3962514" y="5275580"/>
                  </a:lnTo>
                  <a:lnTo>
                    <a:pt x="3962514" y="5207000"/>
                  </a:lnTo>
                  <a:lnTo>
                    <a:pt x="68668" y="5207000"/>
                  </a:lnTo>
                  <a:lnTo>
                    <a:pt x="68668" y="68580"/>
                  </a:lnTo>
                  <a:lnTo>
                    <a:pt x="3893845" y="68580"/>
                  </a:lnTo>
                  <a:lnTo>
                    <a:pt x="3893845" y="5206682"/>
                  </a:lnTo>
                  <a:lnTo>
                    <a:pt x="3962514" y="5206682"/>
                  </a:lnTo>
                  <a:lnTo>
                    <a:pt x="3962514" y="68580"/>
                  </a:lnTo>
                  <a:lnTo>
                    <a:pt x="3962514" y="68237"/>
                  </a:lnTo>
                  <a:lnTo>
                    <a:pt x="3962514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-179" y="252990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-179" y="49850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-179" y="743993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3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3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62250" y="262058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2250" y="507578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2250" y="7530979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43639" y="1464119"/>
            <a:ext cx="10248265" cy="8823325"/>
          </a:xfrm>
          <a:custGeom>
            <a:avLst/>
            <a:gdLst/>
            <a:ahLst/>
            <a:cxnLst/>
            <a:rect l="l" t="t" r="r" b="b"/>
            <a:pathLst>
              <a:path w="10248265" h="8823325">
                <a:moveTo>
                  <a:pt x="0" y="8822879"/>
                </a:moveTo>
                <a:lnTo>
                  <a:pt x="0" y="0"/>
                </a:lnTo>
                <a:lnTo>
                  <a:pt x="10248119" y="0"/>
                </a:lnTo>
                <a:lnTo>
                  <a:pt x="10248119" y="8822879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50528" y="1429067"/>
            <a:ext cx="76358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385" dirty="0">
                <a:solidFill>
                  <a:srgbClr val="4F81BD"/>
                </a:solidFill>
                <a:latin typeface="Arial Black"/>
                <a:cs typeface="Arial Black"/>
              </a:rPr>
              <a:t>TECHNICAL</a:t>
            </a:r>
            <a:r>
              <a:rPr sz="4400" b="0" spc="-610" dirty="0">
                <a:solidFill>
                  <a:srgbClr val="4F81BD"/>
                </a:solidFill>
                <a:latin typeface="Arial Black"/>
                <a:cs typeface="Arial Black"/>
              </a:rPr>
              <a:t> </a:t>
            </a:r>
            <a:r>
              <a:rPr sz="4400" b="0" spc="-350" dirty="0">
                <a:solidFill>
                  <a:srgbClr val="4F81BD"/>
                </a:solidFill>
                <a:latin typeface="Arial Black"/>
                <a:cs typeface="Arial Black"/>
              </a:rPr>
              <a:t>COMPONENTS</a:t>
            </a:r>
            <a:r>
              <a:rPr sz="4400" b="0" spc="-610" dirty="0">
                <a:solidFill>
                  <a:srgbClr val="4F81BD"/>
                </a:solidFill>
                <a:latin typeface="Arial Black"/>
                <a:cs typeface="Arial Black"/>
              </a:rPr>
              <a:t> </a:t>
            </a:r>
            <a:r>
              <a:rPr sz="4400" b="0" spc="-50" dirty="0">
                <a:solidFill>
                  <a:srgbClr val="4F81BD"/>
                </a:solidFill>
                <a:latin typeface="Arial Black"/>
                <a:cs typeface="Arial Black"/>
              </a:rPr>
              <a:t>: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20707" y="2553272"/>
            <a:ext cx="2185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80" dirty="0">
                <a:latin typeface="Arial Black"/>
                <a:cs typeface="Arial Black"/>
              </a:rPr>
              <a:t>ARDUINO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16669" y="4793551"/>
            <a:ext cx="3445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65" dirty="0">
                <a:latin typeface="Arial Black"/>
                <a:cs typeface="Arial Black"/>
              </a:rPr>
              <a:t>JUMPER</a:t>
            </a:r>
            <a:r>
              <a:rPr sz="3600" spc="-509" dirty="0">
                <a:latin typeface="Arial Black"/>
                <a:cs typeface="Arial Black"/>
              </a:rPr>
              <a:t> </a:t>
            </a:r>
            <a:r>
              <a:rPr sz="3600" spc="-325" dirty="0">
                <a:latin typeface="Arial Black"/>
                <a:cs typeface="Arial Black"/>
              </a:rPr>
              <a:t>WIRES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51415" y="7033831"/>
            <a:ext cx="3376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60" dirty="0">
                <a:latin typeface="Arial Black"/>
                <a:cs typeface="Arial Black"/>
              </a:rPr>
              <a:t>SERVO</a:t>
            </a:r>
            <a:r>
              <a:rPr sz="3600" spc="-509" dirty="0">
                <a:latin typeface="Arial Black"/>
                <a:cs typeface="Arial Black"/>
              </a:rPr>
              <a:t> </a:t>
            </a:r>
            <a:r>
              <a:rPr sz="3600" spc="-290" dirty="0">
                <a:latin typeface="Arial Black"/>
                <a:cs typeface="Arial Black"/>
              </a:rPr>
              <a:t>MOTOR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6382" y="9274112"/>
            <a:ext cx="4808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60" dirty="0">
                <a:latin typeface="Arial Black"/>
                <a:cs typeface="Arial Black"/>
              </a:rPr>
              <a:t>ULTRASONICSENSOR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062243" y="917923"/>
            <a:ext cx="4225925" cy="8451850"/>
          </a:xfrm>
          <a:custGeom>
            <a:avLst/>
            <a:gdLst/>
            <a:ahLst/>
            <a:cxnLst/>
            <a:rect l="l" t="t" r="r" b="b"/>
            <a:pathLst>
              <a:path w="4225925" h="8451850">
                <a:moveTo>
                  <a:pt x="4225756" y="8451514"/>
                </a:moveTo>
                <a:lnTo>
                  <a:pt x="0" y="4225756"/>
                </a:lnTo>
                <a:lnTo>
                  <a:pt x="4225756" y="0"/>
                </a:lnTo>
                <a:lnTo>
                  <a:pt x="4225756" y="8451514"/>
                </a:lnTo>
                <a:close/>
              </a:path>
            </a:pathLst>
          </a:custGeom>
          <a:solidFill>
            <a:srgbClr val="527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2276280" y="2271600"/>
            <a:ext cx="2764155" cy="5121910"/>
            <a:chOff x="2276280" y="2271600"/>
            <a:chExt cx="2764155" cy="512191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6280" y="2271600"/>
              <a:ext cx="2562839" cy="14997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1360" y="4367880"/>
              <a:ext cx="2123639" cy="12592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3344" y="6031691"/>
              <a:ext cx="2706600" cy="1361465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280" y="7540920"/>
            <a:ext cx="4047839" cy="2349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246360" cy="4643120"/>
            <a:chOff x="0" y="0"/>
            <a:chExt cx="10246360" cy="4643120"/>
          </a:xfrm>
        </p:grpSpPr>
        <p:sp>
          <p:nvSpPr>
            <p:cNvPr id="3" name="object 3"/>
            <p:cNvSpPr/>
            <p:nvPr/>
          </p:nvSpPr>
          <p:spPr>
            <a:xfrm>
              <a:off x="277920" y="2425679"/>
              <a:ext cx="9968230" cy="1259840"/>
            </a:xfrm>
            <a:custGeom>
              <a:avLst/>
              <a:gdLst/>
              <a:ahLst/>
              <a:cxnLst/>
              <a:rect l="l" t="t" r="r" b="b"/>
              <a:pathLst>
                <a:path w="9968230" h="1259839">
                  <a:moveTo>
                    <a:pt x="9968039" y="1259639"/>
                  </a:moveTo>
                  <a:lnTo>
                    <a:pt x="0" y="1259639"/>
                  </a:lnTo>
                  <a:lnTo>
                    <a:pt x="0" y="0"/>
                  </a:lnTo>
                  <a:lnTo>
                    <a:pt x="9968039" y="0"/>
                  </a:lnTo>
                  <a:lnTo>
                    <a:pt x="9968039" y="125963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59"/>
              <a:ext cx="4643120" cy="4643120"/>
            </a:xfrm>
            <a:custGeom>
              <a:avLst/>
              <a:gdLst/>
              <a:ahLst/>
              <a:cxnLst/>
              <a:rect l="l" t="t" r="r" b="b"/>
              <a:pathLst>
                <a:path w="4643120" h="4643120">
                  <a:moveTo>
                    <a:pt x="0" y="4642636"/>
                  </a:moveTo>
                  <a:lnTo>
                    <a:pt x="0" y="0"/>
                  </a:lnTo>
                  <a:lnTo>
                    <a:pt x="4642636" y="0"/>
                  </a:lnTo>
                  <a:lnTo>
                    <a:pt x="0" y="4642636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138929" cy="4138295"/>
            </a:xfrm>
            <a:custGeom>
              <a:avLst/>
              <a:gdLst/>
              <a:ahLst/>
              <a:cxnLst/>
              <a:rect l="l" t="t" r="r" b="b"/>
              <a:pathLst>
                <a:path w="4138929" h="4138295">
                  <a:moveTo>
                    <a:pt x="263804" y="3874551"/>
                  </a:moveTo>
                  <a:lnTo>
                    <a:pt x="179" y="3874551"/>
                  </a:lnTo>
                  <a:lnTo>
                    <a:pt x="3874732" y="0"/>
                  </a:lnTo>
                  <a:lnTo>
                    <a:pt x="4138356" y="0"/>
                  </a:lnTo>
                  <a:lnTo>
                    <a:pt x="263804" y="3874551"/>
                  </a:lnTo>
                  <a:close/>
                </a:path>
                <a:path w="4138929" h="4138295">
                  <a:moveTo>
                    <a:pt x="179" y="4138176"/>
                  </a:moveTo>
                  <a:lnTo>
                    <a:pt x="0" y="4137996"/>
                  </a:lnTo>
                  <a:lnTo>
                    <a:pt x="0" y="3874371"/>
                  </a:lnTo>
                  <a:lnTo>
                    <a:pt x="179" y="3874551"/>
                  </a:lnTo>
                  <a:lnTo>
                    <a:pt x="263804" y="3874551"/>
                  </a:lnTo>
                  <a:lnTo>
                    <a:pt x="179" y="41381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920" y="3422164"/>
            <a:ext cx="985202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00" marR="835660" indent="66675">
              <a:lnSpc>
                <a:spcPct val="127299"/>
              </a:lnSpc>
              <a:spcBef>
                <a:spcPts val="95"/>
              </a:spcBef>
            </a:pPr>
            <a:r>
              <a:rPr sz="6600" b="0" spc="-565" dirty="0">
                <a:solidFill>
                  <a:srgbClr val="2B4A9D"/>
                </a:solidFill>
                <a:latin typeface="Arial Black"/>
                <a:cs typeface="Arial Black"/>
              </a:rPr>
              <a:t>DEMONSTRATING </a:t>
            </a:r>
            <a:r>
              <a:rPr sz="6600" b="0" spc="-545" dirty="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sz="6600" b="0" spc="-944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6600" b="0" spc="-509" dirty="0">
                <a:solidFill>
                  <a:srgbClr val="2B4A9D"/>
                </a:solidFill>
                <a:latin typeface="Arial Black"/>
                <a:cs typeface="Arial Black"/>
              </a:rPr>
              <a:t>CONNECTIONS</a:t>
            </a:r>
            <a:endParaRPr sz="66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29319" y="0"/>
            <a:ext cx="8158480" cy="10287000"/>
            <a:chOff x="10129319" y="0"/>
            <a:chExt cx="8158480" cy="10287000"/>
          </a:xfrm>
        </p:grpSpPr>
        <p:sp>
          <p:nvSpPr>
            <p:cNvPr id="8" name="object 8"/>
            <p:cNvSpPr/>
            <p:nvPr/>
          </p:nvSpPr>
          <p:spPr>
            <a:xfrm>
              <a:off x="10129319" y="0"/>
              <a:ext cx="8158480" cy="10287000"/>
            </a:xfrm>
            <a:custGeom>
              <a:avLst/>
              <a:gdLst/>
              <a:ahLst/>
              <a:cxnLst/>
              <a:rect l="l" t="t" r="r" b="b"/>
              <a:pathLst>
                <a:path w="8158480" h="10287000">
                  <a:moveTo>
                    <a:pt x="8158319" y="10286639"/>
                  </a:moveTo>
                  <a:lnTo>
                    <a:pt x="0" y="10286639"/>
                  </a:lnTo>
                  <a:lnTo>
                    <a:pt x="0" y="0"/>
                  </a:lnTo>
                  <a:lnTo>
                    <a:pt x="8158319" y="0"/>
                  </a:lnTo>
                  <a:lnTo>
                    <a:pt x="8158319" y="1028663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4160" y="3121920"/>
              <a:ext cx="4148639" cy="40431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8280" y="9647280"/>
              <a:ext cx="487079" cy="487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3279" y="0"/>
            <a:ext cx="452755" cy="9587230"/>
          </a:xfrm>
          <a:custGeom>
            <a:avLst/>
            <a:gdLst/>
            <a:ahLst/>
            <a:cxnLst/>
            <a:rect l="l" t="t" r="r" b="b"/>
            <a:pathLst>
              <a:path w="452755" h="9587230">
                <a:moveTo>
                  <a:pt x="452159" y="9586799"/>
                </a:moveTo>
                <a:lnTo>
                  <a:pt x="0" y="9586799"/>
                </a:lnTo>
                <a:lnTo>
                  <a:pt x="0" y="0"/>
                </a:lnTo>
                <a:lnTo>
                  <a:pt x="452159" y="0"/>
                </a:lnTo>
                <a:lnTo>
                  <a:pt x="452159" y="958679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348519" y="0"/>
            <a:ext cx="3939540" cy="9258300"/>
            <a:chOff x="14348519" y="0"/>
            <a:chExt cx="3939540" cy="9258300"/>
          </a:xfrm>
        </p:grpSpPr>
        <p:sp>
          <p:nvSpPr>
            <p:cNvPr id="4" name="object 4"/>
            <p:cNvSpPr/>
            <p:nvPr/>
          </p:nvSpPr>
          <p:spPr>
            <a:xfrm>
              <a:off x="14348519" y="6080759"/>
              <a:ext cx="3939540" cy="3177540"/>
            </a:xfrm>
            <a:custGeom>
              <a:avLst/>
              <a:gdLst/>
              <a:ahLst/>
              <a:cxnLst/>
              <a:rect l="l" t="t" r="r" b="b"/>
              <a:pathLst>
                <a:path w="3939540" h="3177540">
                  <a:moveTo>
                    <a:pt x="0" y="3176999"/>
                  </a:moveTo>
                  <a:lnTo>
                    <a:pt x="3939480" y="3176999"/>
                  </a:lnTo>
                  <a:lnTo>
                    <a:pt x="3939480" y="0"/>
                  </a:lnTo>
                  <a:lnTo>
                    <a:pt x="0" y="0"/>
                  </a:lnTo>
                  <a:lnTo>
                    <a:pt x="0" y="317699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48519" y="0"/>
              <a:ext cx="3939540" cy="6080760"/>
            </a:xfrm>
            <a:custGeom>
              <a:avLst/>
              <a:gdLst/>
              <a:ahLst/>
              <a:cxnLst/>
              <a:rect l="l" t="t" r="r" b="b"/>
              <a:pathLst>
                <a:path w="3939540" h="6080760">
                  <a:moveTo>
                    <a:pt x="3939480" y="6080759"/>
                  </a:moveTo>
                  <a:lnTo>
                    <a:pt x="0" y="6080759"/>
                  </a:lnTo>
                  <a:lnTo>
                    <a:pt x="0" y="0"/>
                  </a:lnTo>
                  <a:lnTo>
                    <a:pt x="3939480" y="0"/>
                  </a:lnTo>
                  <a:lnTo>
                    <a:pt x="3939480" y="608075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-179" y="195822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62250" y="204926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5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79" y="43244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-179" y="669726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9"/>
                </a:lnTo>
                <a:lnTo>
                  <a:pt x="1943147" y="277283"/>
                </a:lnTo>
                <a:lnTo>
                  <a:pt x="1943147" y="278178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5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5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62250" y="6787939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3209925" cy="1833245"/>
          </a:xfrm>
          <a:custGeom>
            <a:avLst/>
            <a:gdLst/>
            <a:ahLst/>
            <a:cxnLst/>
            <a:rect l="l" t="t" r="r" b="b"/>
            <a:pathLst>
              <a:path w="3209925" h="1833245">
                <a:moveTo>
                  <a:pt x="1654291" y="1555498"/>
                </a:moveTo>
                <a:lnTo>
                  <a:pt x="1376639" y="1555498"/>
                </a:lnTo>
                <a:lnTo>
                  <a:pt x="2932138" y="0"/>
                </a:lnTo>
                <a:lnTo>
                  <a:pt x="3209789" y="0"/>
                </a:lnTo>
                <a:lnTo>
                  <a:pt x="1654291" y="1555498"/>
                </a:lnTo>
                <a:close/>
              </a:path>
              <a:path w="3209925" h="1833245">
                <a:moveTo>
                  <a:pt x="1376639" y="1833149"/>
                </a:moveTo>
                <a:lnTo>
                  <a:pt x="0" y="456509"/>
                </a:lnTo>
                <a:lnTo>
                  <a:pt x="0" y="178858"/>
                </a:lnTo>
                <a:lnTo>
                  <a:pt x="1376639" y="1555498"/>
                </a:lnTo>
                <a:lnTo>
                  <a:pt x="1654291" y="1555498"/>
                </a:lnTo>
                <a:lnTo>
                  <a:pt x="1376639" y="183314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360" y="3390839"/>
            <a:ext cx="3961439" cy="201635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6126119"/>
            <a:ext cx="5419090" cy="4161154"/>
            <a:chOff x="0" y="6126119"/>
            <a:chExt cx="5419090" cy="4161154"/>
          </a:xfrm>
        </p:grpSpPr>
        <p:sp>
          <p:nvSpPr>
            <p:cNvPr id="15" name="object 15"/>
            <p:cNvSpPr/>
            <p:nvPr/>
          </p:nvSpPr>
          <p:spPr>
            <a:xfrm>
              <a:off x="0" y="8453490"/>
              <a:ext cx="3210560" cy="1833880"/>
            </a:xfrm>
            <a:custGeom>
              <a:avLst/>
              <a:gdLst/>
              <a:ahLst/>
              <a:cxnLst/>
              <a:rect l="l" t="t" r="r" b="b"/>
              <a:pathLst>
                <a:path w="3210560" h="1833879">
                  <a:moveTo>
                    <a:pt x="0" y="1648506"/>
                  </a:moveTo>
                  <a:lnTo>
                    <a:pt x="0" y="1376639"/>
                  </a:lnTo>
                  <a:lnTo>
                    <a:pt x="1376639" y="0"/>
                  </a:lnTo>
                  <a:lnTo>
                    <a:pt x="1648506" y="271866"/>
                  </a:lnTo>
                  <a:lnTo>
                    <a:pt x="1376639" y="271866"/>
                  </a:lnTo>
                  <a:lnTo>
                    <a:pt x="0" y="1648506"/>
                  </a:lnTo>
                  <a:close/>
                </a:path>
                <a:path w="3210560" h="1833879">
                  <a:moveTo>
                    <a:pt x="3210149" y="1833509"/>
                  </a:moveTo>
                  <a:lnTo>
                    <a:pt x="2938282" y="1833509"/>
                  </a:lnTo>
                  <a:lnTo>
                    <a:pt x="1376639" y="271866"/>
                  </a:lnTo>
                  <a:lnTo>
                    <a:pt x="1648506" y="271866"/>
                  </a:lnTo>
                  <a:lnTo>
                    <a:pt x="3210149" y="183350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9320" y="6126119"/>
              <a:ext cx="3299399" cy="3051719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94313" y="3232080"/>
            <a:ext cx="3572086" cy="210491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91319" y="3232080"/>
            <a:ext cx="3729239" cy="210491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88745" y="1092640"/>
            <a:ext cx="1196213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>
                <a:solidFill>
                  <a:srgbClr val="E6B9B8"/>
                </a:solidFill>
                <a:latin typeface="Calibri"/>
                <a:cs typeface="Calibri"/>
              </a:rPr>
              <a:t>DEMONSTRATING</a:t>
            </a:r>
            <a:r>
              <a:rPr sz="4000" spc="-135" dirty="0">
                <a:solidFill>
                  <a:srgbClr val="E6B9B8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E6B9B8"/>
                </a:solidFill>
                <a:latin typeface="Calibri"/>
                <a:cs typeface="Calibri"/>
              </a:rPr>
              <a:t>PICTURES-</a:t>
            </a:r>
            <a:r>
              <a:rPr sz="4000" spc="-50" dirty="0">
                <a:solidFill>
                  <a:srgbClr val="E6B9B8"/>
                </a:solidFill>
                <a:latin typeface="Calibri"/>
                <a:cs typeface="Calibri"/>
              </a:rPr>
              <a:t>-</a:t>
            </a:r>
            <a:endParaRPr sz="4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4000" b="0" spc="-75" dirty="0">
                <a:latin typeface="Calibri"/>
                <a:cs typeface="Calibri"/>
              </a:rPr>
              <a:t>IMPLEMENTATION</a:t>
            </a:r>
            <a:r>
              <a:rPr sz="4000" b="0" spc="-42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[</a:t>
            </a:r>
            <a:r>
              <a:rPr sz="4000" b="0" spc="-434" dirty="0">
                <a:latin typeface="Calibri"/>
                <a:cs typeface="Calibri"/>
              </a:rPr>
              <a:t> </a:t>
            </a:r>
            <a:r>
              <a:rPr sz="4000" b="0" spc="-50" dirty="0">
                <a:latin typeface="Calibri"/>
                <a:cs typeface="Calibri"/>
              </a:rPr>
              <a:t>ARDUINO,SERVO</a:t>
            </a:r>
            <a:r>
              <a:rPr sz="4000" b="0" spc="-42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MOTOR,ULTRASONIC </a:t>
            </a:r>
            <a:r>
              <a:rPr sz="4000" b="0" spc="-30" dirty="0">
                <a:latin typeface="Calibri"/>
                <a:cs typeface="Calibri"/>
              </a:rPr>
              <a:t>SENSOR]-</a:t>
            </a:r>
            <a:r>
              <a:rPr sz="4000" b="0" spc="-50" dirty="0">
                <a:latin typeface="Calibri"/>
                <a:cs typeface="Calibri"/>
              </a:rPr>
              <a:t>-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62250" y="4415540"/>
            <a:ext cx="4874895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3000">
              <a:latin typeface="Trebuchet MS"/>
              <a:cs typeface="Trebuchet MS"/>
            </a:endParaRPr>
          </a:p>
          <a:p>
            <a:pPr marL="726440" algn="ctr">
              <a:lnSpc>
                <a:spcPct val="100000"/>
              </a:lnSpc>
            </a:pPr>
            <a:r>
              <a:rPr sz="4000" spc="-10" dirty="0">
                <a:latin typeface="Calibri"/>
                <a:cs typeface="Calibri"/>
              </a:rPr>
              <a:t>WORKING</a:t>
            </a:r>
            <a:r>
              <a:rPr sz="4000" spc="-1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MODEL</a:t>
            </a:r>
            <a:r>
              <a:rPr sz="4000" spc="-160" dirty="0">
                <a:latin typeface="Calibri"/>
                <a:cs typeface="Calibri"/>
              </a:rPr>
              <a:t> </a:t>
            </a:r>
            <a:r>
              <a:rPr sz="4000" spc="-50" dirty="0">
                <a:latin typeface="Calibri"/>
                <a:cs typeface="Calibri"/>
              </a:rPr>
              <a:t>–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0960" y="6126119"/>
            <a:ext cx="2833199" cy="313163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59239" y="6126119"/>
            <a:ext cx="3266279" cy="3051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955" y="3689220"/>
            <a:ext cx="8585200" cy="3804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ts val="10080"/>
              </a:lnSpc>
            </a:pPr>
            <a:r>
              <a:rPr sz="8000" b="0" spc="-265" dirty="0">
                <a:solidFill>
                  <a:srgbClr val="2B4A9D"/>
                </a:solidFill>
                <a:latin typeface="Arial Black"/>
                <a:cs typeface="Arial Black"/>
              </a:rPr>
              <a:t>Salient</a:t>
            </a:r>
            <a:r>
              <a:rPr sz="8000" b="0" spc="-112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8000" b="0" spc="-215" dirty="0">
                <a:solidFill>
                  <a:srgbClr val="2B4A9D"/>
                </a:solidFill>
                <a:latin typeface="Arial Black"/>
                <a:cs typeface="Arial Black"/>
              </a:rPr>
              <a:t>Features </a:t>
            </a:r>
            <a:r>
              <a:rPr sz="8000" b="0" spc="-220" dirty="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sz="8000" b="0" spc="-1125" dirty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sz="8000" b="0" spc="-645" dirty="0">
                <a:solidFill>
                  <a:srgbClr val="2B4A9D"/>
                </a:solidFill>
                <a:latin typeface="Arial Black"/>
                <a:cs typeface="Arial Black"/>
              </a:rPr>
              <a:t>SMART </a:t>
            </a:r>
            <a:r>
              <a:rPr sz="8000" b="0" spc="-765" dirty="0">
                <a:solidFill>
                  <a:srgbClr val="2B4A9D"/>
                </a:solidFill>
                <a:latin typeface="Arial Black"/>
                <a:cs typeface="Arial Black"/>
              </a:rPr>
              <a:t>DUSTBIN</a:t>
            </a:r>
            <a:endParaRPr sz="80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29319" y="0"/>
            <a:ext cx="8158480" cy="10287000"/>
            <a:chOff x="10129319" y="0"/>
            <a:chExt cx="8158480" cy="10287000"/>
          </a:xfrm>
        </p:grpSpPr>
        <p:sp>
          <p:nvSpPr>
            <p:cNvPr id="4" name="object 4"/>
            <p:cNvSpPr/>
            <p:nvPr/>
          </p:nvSpPr>
          <p:spPr>
            <a:xfrm>
              <a:off x="10129319" y="0"/>
              <a:ext cx="8158480" cy="10287000"/>
            </a:xfrm>
            <a:custGeom>
              <a:avLst/>
              <a:gdLst/>
              <a:ahLst/>
              <a:cxnLst/>
              <a:rect l="l" t="t" r="r" b="b"/>
              <a:pathLst>
                <a:path w="8158480" h="10287000">
                  <a:moveTo>
                    <a:pt x="8158319" y="10286639"/>
                  </a:moveTo>
                  <a:lnTo>
                    <a:pt x="0" y="10286639"/>
                  </a:lnTo>
                  <a:lnTo>
                    <a:pt x="0" y="0"/>
                  </a:lnTo>
                  <a:lnTo>
                    <a:pt x="8158319" y="0"/>
                  </a:lnTo>
                  <a:lnTo>
                    <a:pt x="8158319" y="1028663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4160" y="3121920"/>
              <a:ext cx="4148639" cy="4043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8280" y="9647280"/>
              <a:ext cx="487079" cy="487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3279" y="0"/>
            <a:ext cx="452755" cy="9587230"/>
          </a:xfrm>
          <a:custGeom>
            <a:avLst/>
            <a:gdLst/>
            <a:ahLst/>
            <a:cxnLst/>
            <a:rect l="l" t="t" r="r" b="b"/>
            <a:pathLst>
              <a:path w="452755" h="9587230">
                <a:moveTo>
                  <a:pt x="452159" y="9586799"/>
                </a:moveTo>
                <a:lnTo>
                  <a:pt x="0" y="9586799"/>
                </a:lnTo>
                <a:lnTo>
                  <a:pt x="0" y="0"/>
                </a:lnTo>
                <a:lnTo>
                  <a:pt x="452159" y="0"/>
                </a:lnTo>
                <a:lnTo>
                  <a:pt x="452159" y="958679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672160" y="0"/>
            <a:ext cx="3616325" cy="10287000"/>
            <a:chOff x="14672160" y="0"/>
            <a:chExt cx="3616325" cy="10287000"/>
          </a:xfrm>
        </p:grpSpPr>
        <p:sp>
          <p:nvSpPr>
            <p:cNvPr id="4" name="object 4"/>
            <p:cNvSpPr/>
            <p:nvPr/>
          </p:nvSpPr>
          <p:spPr>
            <a:xfrm>
              <a:off x="14672160" y="7760520"/>
              <a:ext cx="3616325" cy="2526665"/>
            </a:xfrm>
            <a:custGeom>
              <a:avLst/>
              <a:gdLst/>
              <a:ahLst/>
              <a:cxnLst/>
              <a:rect l="l" t="t" r="r" b="b"/>
              <a:pathLst>
                <a:path w="3616325" h="2526665">
                  <a:moveTo>
                    <a:pt x="0" y="2526480"/>
                  </a:moveTo>
                  <a:lnTo>
                    <a:pt x="3615840" y="2526480"/>
                  </a:lnTo>
                  <a:lnTo>
                    <a:pt x="3615840" y="0"/>
                  </a:lnTo>
                  <a:lnTo>
                    <a:pt x="0" y="0"/>
                  </a:lnTo>
                  <a:lnTo>
                    <a:pt x="0" y="252648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672160" y="0"/>
              <a:ext cx="3616325" cy="7760970"/>
            </a:xfrm>
            <a:custGeom>
              <a:avLst/>
              <a:gdLst/>
              <a:ahLst/>
              <a:cxnLst/>
              <a:rect l="l" t="t" r="r" b="b"/>
              <a:pathLst>
                <a:path w="3616325" h="7760970">
                  <a:moveTo>
                    <a:pt x="3615840" y="7760519"/>
                  </a:moveTo>
                  <a:lnTo>
                    <a:pt x="0" y="7760519"/>
                  </a:lnTo>
                  <a:lnTo>
                    <a:pt x="0" y="0"/>
                  </a:lnTo>
                  <a:lnTo>
                    <a:pt x="3615840" y="0"/>
                  </a:lnTo>
                  <a:lnTo>
                    <a:pt x="3615840" y="776051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-179" y="195822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62250" y="204926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5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79" y="43244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62250" y="441554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-179" y="669726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9"/>
                </a:lnTo>
                <a:lnTo>
                  <a:pt x="1943147" y="277283"/>
                </a:lnTo>
                <a:lnTo>
                  <a:pt x="1943147" y="278178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5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5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62250" y="6787939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3209925" cy="1833245"/>
          </a:xfrm>
          <a:custGeom>
            <a:avLst/>
            <a:gdLst/>
            <a:ahLst/>
            <a:cxnLst/>
            <a:rect l="l" t="t" r="r" b="b"/>
            <a:pathLst>
              <a:path w="3209925" h="1833245">
                <a:moveTo>
                  <a:pt x="1654291" y="1555498"/>
                </a:moveTo>
                <a:lnTo>
                  <a:pt x="1376639" y="1555498"/>
                </a:lnTo>
                <a:lnTo>
                  <a:pt x="2932138" y="0"/>
                </a:lnTo>
                <a:lnTo>
                  <a:pt x="3209789" y="0"/>
                </a:lnTo>
                <a:lnTo>
                  <a:pt x="1654291" y="1555498"/>
                </a:lnTo>
                <a:close/>
              </a:path>
              <a:path w="3209925" h="1833245">
                <a:moveTo>
                  <a:pt x="1376639" y="1833149"/>
                </a:moveTo>
                <a:lnTo>
                  <a:pt x="0" y="456509"/>
                </a:lnTo>
                <a:lnTo>
                  <a:pt x="0" y="178858"/>
                </a:lnTo>
                <a:lnTo>
                  <a:pt x="1376639" y="1555498"/>
                </a:lnTo>
                <a:lnTo>
                  <a:pt x="1654291" y="1555498"/>
                </a:lnTo>
                <a:lnTo>
                  <a:pt x="1376639" y="183314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8453490"/>
            <a:ext cx="3210560" cy="1833880"/>
          </a:xfrm>
          <a:custGeom>
            <a:avLst/>
            <a:gdLst/>
            <a:ahLst/>
            <a:cxnLst/>
            <a:rect l="l" t="t" r="r" b="b"/>
            <a:pathLst>
              <a:path w="3210560" h="1833879">
                <a:moveTo>
                  <a:pt x="0" y="1648506"/>
                </a:moveTo>
                <a:lnTo>
                  <a:pt x="0" y="1376639"/>
                </a:lnTo>
                <a:lnTo>
                  <a:pt x="1376639" y="0"/>
                </a:lnTo>
                <a:lnTo>
                  <a:pt x="1648506" y="271866"/>
                </a:lnTo>
                <a:lnTo>
                  <a:pt x="1376639" y="271866"/>
                </a:lnTo>
                <a:lnTo>
                  <a:pt x="0" y="1648506"/>
                </a:lnTo>
                <a:close/>
              </a:path>
              <a:path w="3210560" h="1833879">
                <a:moveTo>
                  <a:pt x="3210149" y="1833509"/>
                </a:moveTo>
                <a:lnTo>
                  <a:pt x="2938282" y="1833509"/>
                </a:lnTo>
                <a:lnTo>
                  <a:pt x="1376639" y="271866"/>
                </a:lnTo>
                <a:lnTo>
                  <a:pt x="1648506" y="271866"/>
                </a:lnTo>
                <a:lnTo>
                  <a:pt x="3210149" y="183350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099021" y="2513548"/>
            <a:ext cx="8994140" cy="1957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95"/>
              </a:spcBef>
            </a:pPr>
            <a:r>
              <a:rPr sz="2100" dirty="0"/>
              <a:t>~~</a:t>
            </a:r>
            <a:r>
              <a:rPr sz="3150" dirty="0"/>
              <a:t>Automatic</a:t>
            </a:r>
            <a:r>
              <a:rPr sz="3150" spc="175" dirty="0"/>
              <a:t> </a:t>
            </a:r>
            <a:r>
              <a:rPr sz="3150" dirty="0"/>
              <a:t>sensor</a:t>
            </a:r>
            <a:r>
              <a:rPr sz="3150" spc="180" dirty="0"/>
              <a:t> </a:t>
            </a:r>
            <a:r>
              <a:rPr sz="3150" spc="50" dirty="0"/>
              <a:t>based</a:t>
            </a:r>
            <a:r>
              <a:rPr sz="3150" spc="185" dirty="0"/>
              <a:t> </a:t>
            </a:r>
            <a:r>
              <a:rPr sz="3150" dirty="0"/>
              <a:t>operation</a:t>
            </a:r>
            <a:r>
              <a:rPr sz="3150" spc="190" dirty="0"/>
              <a:t> </a:t>
            </a:r>
            <a:r>
              <a:rPr sz="3150" dirty="0"/>
              <a:t>with</a:t>
            </a:r>
            <a:r>
              <a:rPr sz="3150" spc="185" dirty="0"/>
              <a:t> </a:t>
            </a:r>
            <a:r>
              <a:rPr sz="3150" spc="-20" dirty="0"/>
              <a:t>zero </a:t>
            </a:r>
            <a:r>
              <a:rPr sz="3150" dirty="0"/>
              <a:t>manual</a:t>
            </a:r>
            <a:r>
              <a:rPr sz="3150" spc="155" dirty="0"/>
              <a:t> </a:t>
            </a:r>
            <a:r>
              <a:rPr sz="3150" spc="-10" dirty="0"/>
              <a:t>intervention</a:t>
            </a:r>
            <a:endParaRPr sz="3150"/>
          </a:p>
          <a:p>
            <a:pPr marL="603250" marR="596265" algn="ctr">
              <a:lnSpc>
                <a:spcPts val="3800"/>
              </a:lnSpc>
              <a:spcBef>
                <a:spcPts val="105"/>
              </a:spcBef>
            </a:pPr>
            <a:r>
              <a:rPr sz="3150" dirty="0"/>
              <a:t>~~Hygienic</a:t>
            </a:r>
            <a:r>
              <a:rPr sz="3150" spc="254" dirty="0"/>
              <a:t> </a:t>
            </a:r>
            <a:r>
              <a:rPr sz="3150" dirty="0"/>
              <a:t>disposal</a:t>
            </a:r>
            <a:r>
              <a:rPr sz="3150" spc="250" dirty="0"/>
              <a:t> </a:t>
            </a:r>
            <a:r>
              <a:rPr sz="3150" dirty="0"/>
              <a:t>with</a:t>
            </a:r>
            <a:r>
              <a:rPr sz="3150" spc="250" dirty="0"/>
              <a:t> </a:t>
            </a:r>
            <a:r>
              <a:rPr sz="3150" dirty="0"/>
              <a:t>automatic</a:t>
            </a:r>
            <a:r>
              <a:rPr sz="3150" spc="254" dirty="0"/>
              <a:t> </a:t>
            </a:r>
            <a:r>
              <a:rPr sz="3150" spc="30" dirty="0"/>
              <a:t>and </a:t>
            </a:r>
            <a:r>
              <a:rPr sz="3150" dirty="0"/>
              <a:t>touch-less</a:t>
            </a:r>
            <a:r>
              <a:rPr sz="3150" spc="60" dirty="0"/>
              <a:t> waste</a:t>
            </a:r>
            <a:r>
              <a:rPr sz="3150" spc="75" dirty="0"/>
              <a:t> </a:t>
            </a:r>
            <a:r>
              <a:rPr sz="3150" spc="-10" dirty="0"/>
              <a:t>disposal</a:t>
            </a:r>
            <a:endParaRPr sz="3150"/>
          </a:p>
        </p:txBody>
      </p:sp>
      <p:sp>
        <p:nvSpPr>
          <p:cNvPr id="15" name="object 15"/>
          <p:cNvSpPr txBox="1"/>
          <p:nvPr/>
        </p:nvSpPr>
        <p:spPr>
          <a:xfrm>
            <a:off x="3116113" y="4444761"/>
            <a:ext cx="9084945" cy="43707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120650" algn="ctr">
              <a:lnSpc>
                <a:spcPct val="100000"/>
              </a:lnSpc>
              <a:spcBef>
                <a:spcPts val="114"/>
              </a:spcBef>
            </a:pPr>
            <a:r>
              <a:rPr sz="3150" b="1" dirty="0">
                <a:latin typeface="Arial"/>
                <a:cs typeface="Arial"/>
              </a:rPr>
              <a:t>~~Smart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indicators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on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spc="55" dirty="0">
                <a:latin typeface="Arial"/>
                <a:cs typeface="Arial"/>
              </a:rPr>
              <a:t>the</a:t>
            </a:r>
            <a:r>
              <a:rPr sz="3150" b="1" spc="160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front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display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spc="-10" dirty="0">
                <a:latin typeface="Arial"/>
                <a:cs typeface="Arial"/>
              </a:rPr>
              <a:t>panel</a:t>
            </a:r>
            <a:endParaRPr sz="3150">
              <a:latin typeface="Arial"/>
              <a:cs typeface="Arial"/>
            </a:endParaRPr>
          </a:p>
          <a:p>
            <a:pPr marR="115570" algn="ctr">
              <a:lnSpc>
                <a:spcPct val="100000"/>
              </a:lnSpc>
              <a:spcBef>
                <a:spcPts val="25"/>
              </a:spcBef>
            </a:pPr>
            <a:r>
              <a:rPr sz="3150" b="1" dirty="0">
                <a:latin typeface="Arial"/>
                <a:cs typeface="Arial"/>
              </a:rPr>
              <a:t>~~Low</a:t>
            </a:r>
            <a:r>
              <a:rPr sz="3150" b="1" spc="90" dirty="0">
                <a:latin typeface="Arial"/>
                <a:cs typeface="Arial"/>
              </a:rPr>
              <a:t> </a:t>
            </a:r>
            <a:r>
              <a:rPr sz="3150" b="1" spc="65" dirty="0">
                <a:latin typeface="Arial"/>
                <a:cs typeface="Arial"/>
              </a:rPr>
              <a:t>power</a:t>
            </a:r>
            <a:r>
              <a:rPr sz="3150" b="1" spc="100" dirty="0">
                <a:latin typeface="Arial"/>
                <a:cs typeface="Arial"/>
              </a:rPr>
              <a:t> </a:t>
            </a:r>
            <a:r>
              <a:rPr sz="3150" b="1" spc="-10" dirty="0">
                <a:latin typeface="Arial"/>
                <a:cs typeface="Arial"/>
              </a:rPr>
              <a:t>consumption</a:t>
            </a:r>
            <a:endParaRPr sz="3150">
              <a:latin typeface="Arial"/>
              <a:cs typeface="Arial"/>
            </a:endParaRPr>
          </a:p>
          <a:p>
            <a:pPr marL="193040" marR="192405" algn="ctr">
              <a:lnSpc>
                <a:spcPts val="3800"/>
              </a:lnSpc>
              <a:spcBef>
                <a:spcPts val="130"/>
              </a:spcBef>
            </a:pPr>
            <a:r>
              <a:rPr sz="3150" b="1" dirty="0">
                <a:latin typeface="Arial"/>
                <a:cs typeface="Arial"/>
              </a:rPr>
              <a:t>~~Designed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to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fit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in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small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spaces</a:t>
            </a:r>
            <a:r>
              <a:rPr sz="3150" b="1" spc="150" dirty="0">
                <a:latin typeface="Arial"/>
                <a:cs typeface="Arial"/>
              </a:rPr>
              <a:t> </a:t>
            </a:r>
            <a:r>
              <a:rPr sz="3150" b="1" spc="55" dirty="0">
                <a:latin typeface="Arial"/>
                <a:cs typeface="Arial"/>
              </a:rPr>
              <a:t>and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spc="70" dirty="0">
                <a:latin typeface="Arial"/>
                <a:cs typeface="Arial"/>
              </a:rPr>
              <a:t>add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spc="-25" dirty="0">
                <a:latin typeface="Arial"/>
                <a:cs typeface="Arial"/>
              </a:rPr>
              <a:t>to </a:t>
            </a:r>
            <a:r>
              <a:rPr sz="3150" b="1" spc="55" dirty="0">
                <a:latin typeface="Arial"/>
                <a:cs typeface="Arial"/>
              </a:rPr>
              <a:t>the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aesthetics</a:t>
            </a:r>
            <a:r>
              <a:rPr sz="3150" b="1" spc="150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of</a:t>
            </a:r>
            <a:r>
              <a:rPr sz="3150" b="1" spc="540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your</a:t>
            </a:r>
            <a:r>
              <a:rPr sz="3150" b="1" spc="150" dirty="0">
                <a:latin typeface="Arial"/>
                <a:cs typeface="Arial"/>
              </a:rPr>
              <a:t> </a:t>
            </a:r>
            <a:r>
              <a:rPr sz="3150" b="1" spc="-10" dirty="0">
                <a:latin typeface="Arial"/>
                <a:cs typeface="Arial"/>
              </a:rPr>
              <a:t>premises</a:t>
            </a:r>
            <a:endParaRPr sz="3150">
              <a:latin typeface="Arial"/>
              <a:cs typeface="Arial"/>
            </a:endParaRPr>
          </a:p>
          <a:p>
            <a:pPr marL="12065" marR="5080" algn="ctr">
              <a:lnSpc>
                <a:spcPts val="3800"/>
              </a:lnSpc>
              <a:spcBef>
                <a:spcPts val="5"/>
              </a:spcBef>
            </a:pPr>
            <a:r>
              <a:rPr sz="3150" b="1" dirty="0">
                <a:latin typeface="Arial"/>
                <a:cs typeface="Arial"/>
              </a:rPr>
              <a:t>~~Paper</a:t>
            </a:r>
            <a:r>
              <a:rPr sz="3150" b="1" spc="140" dirty="0">
                <a:latin typeface="Arial"/>
                <a:cs typeface="Arial"/>
              </a:rPr>
              <a:t> </a:t>
            </a:r>
            <a:r>
              <a:rPr sz="3150" b="1" spc="50" dirty="0">
                <a:latin typeface="Arial"/>
                <a:cs typeface="Arial"/>
              </a:rPr>
              <a:t>waste,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plastic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spc="50" dirty="0">
                <a:latin typeface="Arial"/>
                <a:cs typeface="Arial"/>
              </a:rPr>
              <a:t>waste,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food</a:t>
            </a:r>
            <a:r>
              <a:rPr sz="3150" b="1" spc="150" dirty="0">
                <a:latin typeface="Arial"/>
                <a:cs typeface="Arial"/>
              </a:rPr>
              <a:t> </a:t>
            </a:r>
            <a:r>
              <a:rPr sz="3150" b="1" spc="50" dirty="0">
                <a:latin typeface="Arial"/>
                <a:cs typeface="Arial"/>
              </a:rPr>
              <a:t>waste,</a:t>
            </a:r>
            <a:r>
              <a:rPr sz="3150" b="1" spc="204" dirty="0">
                <a:latin typeface="Arial"/>
                <a:cs typeface="Arial"/>
              </a:rPr>
              <a:t> </a:t>
            </a:r>
            <a:r>
              <a:rPr sz="3150" b="1" spc="30" dirty="0">
                <a:latin typeface="Arial"/>
                <a:cs typeface="Arial"/>
              </a:rPr>
              <a:t>and </a:t>
            </a:r>
            <a:r>
              <a:rPr sz="3150" b="1" spc="55" dirty="0">
                <a:latin typeface="Arial"/>
                <a:cs typeface="Arial"/>
              </a:rPr>
              <a:t>other</a:t>
            </a:r>
            <a:r>
              <a:rPr sz="3150" b="1" spc="50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commonly</a:t>
            </a:r>
            <a:r>
              <a:rPr sz="3150" b="1" spc="50" dirty="0">
                <a:latin typeface="Arial"/>
                <a:cs typeface="Arial"/>
              </a:rPr>
              <a:t> </a:t>
            </a:r>
            <a:r>
              <a:rPr sz="3150" b="1" spc="60" dirty="0">
                <a:latin typeface="Arial"/>
                <a:cs typeface="Arial"/>
              </a:rPr>
              <a:t>generated</a:t>
            </a:r>
            <a:r>
              <a:rPr sz="3150" b="1" spc="55" dirty="0">
                <a:latin typeface="Arial"/>
                <a:cs typeface="Arial"/>
              </a:rPr>
              <a:t> </a:t>
            </a:r>
            <a:r>
              <a:rPr sz="3150" b="1" spc="50" dirty="0">
                <a:latin typeface="Arial"/>
                <a:cs typeface="Arial"/>
              </a:rPr>
              <a:t>waste</a:t>
            </a:r>
            <a:endParaRPr sz="3150">
              <a:latin typeface="Arial"/>
              <a:cs typeface="Arial"/>
            </a:endParaRPr>
          </a:p>
          <a:p>
            <a:pPr marL="182245" marR="304165" algn="ctr">
              <a:lnSpc>
                <a:spcPts val="3800"/>
              </a:lnSpc>
            </a:pPr>
            <a:r>
              <a:rPr sz="3150" b="1" dirty="0">
                <a:latin typeface="Arial"/>
                <a:cs typeface="Arial"/>
              </a:rPr>
              <a:t>~~</a:t>
            </a:r>
            <a:r>
              <a:rPr sz="3150" b="1" spc="135" dirty="0">
                <a:latin typeface="Arial"/>
                <a:cs typeface="Arial"/>
              </a:rPr>
              <a:t> </a:t>
            </a:r>
            <a:r>
              <a:rPr sz="3150" b="1" spc="55" dirty="0">
                <a:latin typeface="Arial"/>
                <a:cs typeface="Arial"/>
              </a:rPr>
              <a:t>Used</a:t>
            </a:r>
            <a:r>
              <a:rPr sz="3150" b="1" spc="150" dirty="0">
                <a:latin typeface="Arial"/>
                <a:cs typeface="Arial"/>
              </a:rPr>
              <a:t> </a:t>
            </a:r>
            <a:r>
              <a:rPr sz="3150" b="1" spc="50" dirty="0">
                <a:latin typeface="Arial"/>
                <a:cs typeface="Arial"/>
              </a:rPr>
              <a:t>at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Restaurants,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food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courts,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spc="-10" dirty="0">
                <a:latin typeface="Arial"/>
                <a:cs typeface="Arial"/>
              </a:rPr>
              <a:t>hotels, </a:t>
            </a:r>
            <a:r>
              <a:rPr sz="3150" b="1" dirty="0">
                <a:latin typeface="Arial"/>
                <a:cs typeface="Arial"/>
              </a:rPr>
              <a:t>offices,</a:t>
            </a:r>
            <a:r>
              <a:rPr sz="3150" b="1" spc="13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ships,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trains,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spc="45" dirty="0">
                <a:latin typeface="Arial"/>
                <a:cs typeface="Arial"/>
              </a:rPr>
              <a:t>airports,</a:t>
            </a:r>
            <a:r>
              <a:rPr sz="3150" b="1" spc="150" dirty="0">
                <a:latin typeface="Arial"/>
                <a:cs typeface="Arial"/>
              </a:rPr>
              <a:t> </a:t>
            </a:r>
            <a:r>
              <a:rPr sz="3150" b="1" spc="-10" dirty="0">
                <a:latin typeface="Arial"/>
                <a:cs typeface="Arial"/>
              </a:rPr>
              <a:t>adventure </a:t>
            </a:r>
            <a:r>
              <a:rPr sz="3150" b="1" dirty="0">
                <a:latin typeface="Arial"/>
                <a:cs typeface="Arial"/>
              </a:rPr>
              <a:t>parks</a:t>
            </a:r>
            <a:r>
              <a:rPr sz="3150" b="1" spc="145" dirty="0">
                <a:latin typeface="Arial"/>
                <a:cs typeface="Arial"/>
              </a:rPr>
              <a:t> </a:t>
            </a:r>
            <a:r>
              <a:rPr sz="3150" b="1" spc="55" dirty="0">
                <a:latin typeface="Arial"/>
                <a:cs typeface="Arial"/>
              </a:rPr>
              <a:t>and</a:t>
            </a:r>
            <a:r>
              <a:rPr sz="3150" b="1" spc="160" dirty="0">
                <a:latin typeface="Arial"/>
                <a:cs typeface="Arial"/>
              </a:rPr>
              <a:t> </a:t>
            </a:r>
            <a:r>
              <a:rPr sz="3150" b="1" spc="55" dirty="0">
                <a:latin typeface="Arial"/>
                <a:cs typeface="Arial"/>
              </a:rPr>
              <a:t>other</a:t>
            </a:r>
            <a:r>
              <a:rPr sz="3150" b="1" spc="155" dirty="0">
                <a:latin typeface="Arial"/>
                <a:cs typeface="Arial"/>
              </a:rPr>
              <a:t> </a:t>
            </a:r>
            <a:r>
              <a:rPr sz="3150" b="1" dirty="0">
                <a:latin typeface="Arial"/>
                <a:cs typeface="Arial"/>
              </a:rPr>
              <a:t>premium</a:t>
            </a:r>
            <a:r>
              <a:rPr sz="3150" b="1" spc="160" dirty="0">
                <a:latin typeface="Arial"/>
                <a:cs typeface="Arial"/>
              </a:rPr>
              <a:t> </a:t>
            </a:r>
            <a:r>
              <a:rPr sz="3150" b="1" spc="-10" dirty="0">
                <a:latin typeface="Arial"/>
                <a:cs typeface="Arial"/>
              </a:rPr>
              <a:t>places.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3279" y="0"/>
            <a:ext cx="452755" cy="9587230"/>
          </a:xfrm>
          <a:custGeom>
            <a:avLst/>
            <a:gdLst/>
            <a:ahLst/>
            <a:cxnLst/>
            <a:rect l="l" t="t" r="r" b="b"/>
            <a:pathLst>
              <a:path w="452755" h="9587230">
                <a:moveTo>
                  <a:pt x="452159" y="9586799"/>
                </a:moveTo>
                <a:lnTo>
                  <a:pt x="0" y="9586799"/>
                </a:lnTo>
                <a:lnTo>
                  <a:pt x="0" y="0"/>
                </a:lnTo>
                <a:lnTo>
                  <a:pt x="452159" y="0"/>
                </a:lnTo>
                <a:lnTo>
                  <a:pt x="452159" y="958679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672160" y="0"/>
            <a:ext cx="3616325" cy="10287000"/>
            <a:chOff x="14672160" y="0"/>
            <a:chExt cx="3616325" cy="10287000"/>
          </a:xfrm>
        </p:grpSpPr>
        <p:sp>
          <p:nvSpPr>
            <p:cNvPr id="4" name="object 4"/>
            <p:cNvSpPr/>
            <p:nvPr/>
          </p:nvSpPr>
          <p:spPr>
            <a:xfrm>
              <a:off x="14672160" y="7760520"/>
              <a:ext cx="3616325" cy="2526665"/>
            </a:xfrm>
            <a:custGeom>
              <a:avLst/>
              <a:gdLst/>
              <a:ahLst/>
              <a:cxnLst/>
              <a:rect l="l" t="t" r="r" b="b"/>
              <a:pathLst>
                <a:path w="3616325" h="2526665">
                  <a:moveTo>
                    <a:pt x="0" y="2526480"/>
                  </a:moveTo>
                  <a:lnTo>
                    <a:pt x="3615840" y="2526480"/>
                  </a:lnTo>
                  <a:lnTo>
                    <a:pt x="3615840" y="0"/>
                  </a:lnTo>
                  <a:lnTo>
                    <a:pt x="0" y="0"/>
                  </a:lnTo>
                  <a:lnTo>
                    <a:pt x="0" y="252648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672160" y="0"/>
              <a:ext cx="3616325" cy="7760970"/>
            </a:xfrm>
            <a:custGeom>
              <a:avLst/>
              <a:gdLst/>
              <a:ahLst/>
              <a:cxnLst/>
              <a:rect l="l" t="t" r="r" b="b"/>
              <a:pathLst>
                <a:path w="3616325" h="7760970">
                  <a:moveTo>
                    <a:pt x="3615840" y="7760519"/>
                  </a:moveTo>
                  <a:lnTo>
                    <a:pt x="0" y="7760519"/>
                  </a:lnTo>
                  <a:lnTo>
                    <a:pt x="0" y="0"/>
                  </a:lnTo>
                  <a:lnTo>
                    <a:pt x="3615840" y="0"/>
                  </a:lnTo>
                  <a:lnTo>
                    <a:pt x="3615840" y="776051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-179" y="195822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62250" y="204926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5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79" y="43244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62250" y="441554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-179" y="669726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9"/>
                </a:lnTo>
                <a:lnTo>
                  <a:pt x="1943147" y="277283"/>
                </a:lnTo>
                <a:lnTo>
                  <a:pt x="1943147" y="278178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5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5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62250" y="6787939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3209925" cy="1833245"/>
          </a:xfrm>
          <a:custGeom>
            <a:avLst/>
            <a:gdLst/>
            <a:ahLst/>
            <a:cxnLst/>
            <a:rect l="l" t="t" r="r" b="b"/>
            <a:pathLst>
              <a:path w="3209925" h="1833245">
                <a:moveTo>
                  <a:pt x="1654291" y="1555498"/>
                </a:moveTo>
                <a:lnTo>
                  <a:pt x="1376639" y="1555498"/>
                </a:lnTo>
                <a:lnTo>
                  <a:pt x="2932138" y="0"/>
                </a:lnTo>
                <a:lnTo>
                  <a:pt x="3209789" y="0"/>
                </a:lnTo>
                <a:lnTo>
                  <a:pt x="1654291" y="1555498"/>
                </a:lnTo>
                <a:close/>
              </a:path>
              <a:path w="3209925" h="1833245">
                <a:moveTo>
                  <a:pt x="1376639" y="1833149"/>
                </a:moveTo>
                <a:lnTo>
                  <a:pt x="0" y="456509"/>
                </a:lnTo>
                <a:lnTo>
                  <a:pt x="0" y="178858"/>
                </a:lnTo>
                <a:lnTo>
                  <a:pt x="1376639" y="1555498"/>
                </a:lnTo>
                <a:lnTo>
                  <a:pt x="1654291" y="1555498"/>
                </a:lnTo>
                <a:lnTo>
                  <a:pt x="1376639" y="183314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8453490"/>
            <a:ext cx="3210560" cy="1833880"/>
          </a:xfrm>
          <a:custGeom>
            <a:avLst/>
            <a:gdLst/>
            <a:ahLst/>
            <a:cxnLst/>
            <a:rect l="l" t="t" r="r" b="b"/>
            <a:pathLst>
              <a:path w="3210560" h="1833879">
                <a:moveTo>
                  <a:pt x="0" y="1648506"/>
                </a:moveTo>
                <a:lnTo>
                  <a:pt x="0" y="1376639"/>
                </a:lnTo>
                <a:lnTo>
                  <a:pt x="1376639" y="0"/>
                </a:lnTo>
                <a:lnTo>
                  <a:pt x="1648506" y="271866"/>
                </a:lnTo>
                <a:lnTo>
                  <a:pt x="1376639" y="271866"/>
                </a:lnTo>
                <a:lnTo>
                  <a:pt x="0" y="1648506"/>
                </a:lnTo>
                <a:close/>
              </a:path>
              <a:path w="3210560" h="1833879">
                <a:moveTo>
                  <a:pt x="3210149" y="1833509"/>
                </a:moveTo>
                <a:lnTo>
                  <a:pt x="2938282" y="1833509"/>
                </a:lnTo>
                <a:lnTo>
                  <a:pt x="1376639" y="271866"/>
                </a:lnTo>
                <a:lnTo>
                  <a:pt x="1648506" y="271866"/>
                </a:lnTo>
                <a:lnTo>
                  <a:pt x="3210149" y="183350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SOFTWARE</a:t>
            </a:r>
            <a:r>
              <a:rPr spc="260" dirty="0"/>
              <a:t> </a:t>
            </a:r>
            <a:r>
              <a:rPr spc="-10" dirty="0"/>
              <a:t>USED: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945416" y="2919136"/>
            <a:ext cx="7308850" cy="1125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0320">
              <a:lnSpc>
                <a:spcPct val="100000"/>
              </a:lnSpc>
              <a:spcBef>
                <a:spcPts val="105"/>
              </a:spcBef>
            </a:pPr>
            <a:r>
              <a:rPr sz="3600" b="1" spc="60" dirty="0">
                <a:latin typeface="Arial"/>
                <a:cs typeface="Arial"/>
              </a:rPr>
              <a:t>ARDUINO-</a:t>
            </a:r>
            <a:r>
              <a:rPr sz="3600" b="1" dirty="0">
                <a:latin typeface="Arial"/>
                <a:cs typeface="Arial"/>
              </a:rPr>
              <a:t>-</a:t>
            </a:r>
            <a:r>
              <a:rPr sz="3600" b="1" spc="-10" dirty="0">
                <a:latin typeface="Arial"/>
                <a:cs typeface="Arial"/>
              </a:rPr>
              <a:t>IDE(INTERGARATED- </a:t>
            </a:r>
            <a:r>
              <a:rPr sz="3600" b="1" dirty="0">
                <a:latin typeface="Arial"/>
                <a:cs typeface="Arial"/>
              </a:rPr>
              <a:t>DEVELOPMENT</a:t>
            </a:r>
            <a:r>
              <a:rPr sz="3600" b="1" spc="140" dirty="0">
                <a:latin typeface="Arial"/>
                <a:cs typeface="Arial"/>
              </a:rPr>
              <a:t> </a:t>
            </a:r>
            <a:r>
              <a:rPr sz="3600" b="1" spc="55" dirty="0">
                <a:latin typeface="Arial"/>
                <a:cs typeface="Arial"/>
              </a:rPr>
              <a:t>ENVIRONMENT)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265" marR="85725" indent="127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90" dirty="0"/>
              <a:t> </a:t>
            </a:r>
            <a:r>
              <a:rPr dirty="0"/>
              <a:t>Arduino</a:t>
            </a:r>
            <a:r>
              <a:rPr spc="90" dirty="0"/>
              <a:t> </a:t>
            </a:r>
            <a:r>
              <a:rPr dirty="0"/>
              <a:t>-IDE</a:t>
            </a:r>
            <a:r>
              <a:rPr spc="90" dirty="0"/>
              <a:t> </a:t>
            </a:r>
            <a:r>
              <a:rPr spc="65" dirty="0"/>
              <a:t>or</a:t>
            </a:r>
            <a:r>
              <a:rPr spc="85" dirty="0"/>
              <a:t> </a:t>
            </a:r>
            <a:r>
              <a:rPr dirty="0"/>
              <a:t>Arduino</a:t>
            </a:r>
            <a:r>
              <a:rPr spc="95" dirty="0"/>
              <a:t> </a:t>
            </a:r>
            <a:r>
              <a:rPr spc="35" dirty="0"/>
              <a:t>software </a:t>
            </a:r>
            <a:r>
              <a:rPr dirty="0"/>
              <a:t>contains</a:t>
            </a:r>
            <a:r>
              <a:rPr spc="105" dirty="0"/>
              <a:t> </a:t>
            </a:r>
            <a:r>
              <a:rPr spc="140" dirty="0"/>
              <a:t>a</a:t>
            </a:r>
            <a:r>
              <a:rPr spc="114" dirty="0"/>
              <a:t> </a:t>
            </a:r>
            <a:r>
              <a:rPr dirty="0"/>
              <a:t>text</a:t>
            </a:r>
            <a:r>
              <a:rPr spc="114" dirty="0"/>
              <a:t> </a:t>
            </a:r>
            <a:r>
              <a:rPr spc="60" dirty="0"/>
              <a:t>editor</a:t>
            </a:r>
            <a:r>
              <a:rPr spc="110" dirty="0"/>
              <a:t> </a:t>
            </a:r>
            <a:r>
              <a:rPr dirty="0"/>
              <a:t>for</a:t>
            </a:r>
            <a:r>
              <a:rPr spc="105" dirty="0"/>
              <a:t> </a:t>
            </a:r>
            <a:r>
              <a:rPr spc="50" dirty="0"/>
              <a:t>writing</a:t>
            </a:r>
            <a:r>
              <a:rPr spc="114" dirty="0"/>
              <a:t> </a:t>
            </a:r>
            <a:r>
              <a:rPr spc="50" dirty="0"/>
              <a:t>code,a </a:t>
            </a:r>
            <a:r>
              <a:rPr dirty="0"/>
              <a:t>message</a:t>
            </a:r>
            <a:r>
              <a:rPr spc="150" dirty="0"/>
              <a:t> </a:t>
            </a:r>
            <a:r>
              <a:rPr spc="120" dirty="0"/>
              <a:t>area</a:t>
            </a:r>
            <a:r>
              <a:rPr spc="155" dirty="0"/>
              <a:t> </a:t>
            </a:r>
            <a:r>
              <a:rPr spc="130" dirty="0"/>
              <a:t>,a</a:t>
            </a:r>
            <a:r>
              <a:rPr spc="150" dirty="0"/>
              <a:t> </a:t>
            </a:r>
            <a:r>
              <a:rPr dirty="0"/>
              <a:t>text</a:t>
            </a:r>
            <a:r>
              <a:rPr spc="155" dirty="0"/>
              <a:t> </a:t>
            </a:r>
            <a:r>
              <a:rPr dirty="0"/>
              <a:t>console,a</a:t>
            </a:r>
            <a:r>
              <a:rPr spc="155" dirty="0"/>
              <a:t> </a:t>
            </a:r>
            <a:r>
              <a:rPr spc="-10" dirty="0"/>
              <a:t>toolbar </a:t>
            </a:r>
            <a:r>
              <a:rPr dirty="0"/>
              <a:t>with</a:t>
            </a:r>
            <a:r>
              <a:rPr spc="95" dirty="0"/>
              <a:t> </a:t>
            </a:r>
            <a:r>
              <a:rPr dirty="0"/>
              <a:t>buttons</a:t>
            </a:r>
            <a:r>
              <a:rPr spc="90" dirty="0"/>
              <a:t> </a:t>
            </a:r>
            <a:r>
              <a:rPr dirty="0"/>
              <a:t>for</a:t>
            </a:r>
            <a:r>
              <a:rPr spc="95" dirty="0"/>
              <a:t> </a:t>
            </a:r>
            <a:r>
              <a:rPr dirty="0"/>
              <a:t>common</a:t>
            </a:r>
            <a:r>
              <a:rPr spc="95" dirty="0"/>
              <a:t> </a:t>
            </a:r>
            <a:r>
              <a:rPr dirty="0"/>
              <a:t>functions</a:t>
            </a:r>
            <a:r>
              <a:rPr spc="95" dirty="0"/>
              <a:t> </a:t>
            </a:r>
            <a:r>
              <a:rPr spc="-25" dirty="0"/>
              <a:t>and </a:t>
            </a:r>
            <a:r>
              <a:rPr spc="140" dirty="0"/>
              <a:t>a </a:t>
            </a:r>
            <a:r>
              <a:rPr dirty="0"/>
              <a:t>series</a:t>
            </a:r>
            <a:r>
              <a:rPr spc="130" dirty="0"/>
              <a:t> </a:t>
            </a:r>
            <a:r>
              <a:rPr dirty="0"/>
              <a:t>of</a:t>
            </a:r>
            <a:r>
              <a:rPr spc="570" dirty="0"/>
              <a:t> </a:t>
            </a:r>
            <a:r>
              <a:rPr spc="-10" dirty="0"/>
              <a:t>menus.</a:t>
            </a:r>
          </a:p>
          <a:p>
            <a:pPr marL="12065" marR="5080" indent="-4445" algn="ctr">
              <a:lnSpc>
                <a:spcPct val="100000"/>
              </a:lnSpc>
              <a:spcBef>
                <a:spcPts val="50"/>
              </a:spcBef>
            </a:pPr>
            <a:r>
              <a:rPr spc="95" dirty="0"/>
              <a:t>It</a:t>
            </a:r>
            <a:r>
              <a:rPr spc="110" dirty="0"/>
              <a:t> </a:t>
            </a:r>
            <a:r>
              <a:rPr dirty="0"/>
              <a:t>connects</a:t>
            </a:r>
            <a:r>
              <a:rPr spc="110" dirty="0"/>
              <a:t> </a:t>
            </a:r>
            <a:r>
              <a:rPr dirty="0"/>
              <a:t>to</a:t>
            </a:r>
            <a:r>
              <a:rPr spc="114" dirty="0"/>
              <a:t> </a:t>
            </a:r>
            <a:r>
              <a:rPr spc="50" dirty="0"/>
              <a:t>the</a:t>
            </a:r>
            <a:r>
              <a:rPr spc="114" dirty="0"/>
              <a:t> </a:t>
            </a:r>
            <a:r>
              <a:rPr dirty="0"/>
              <a:t>Arduino</a:t>
            </a:r>
            <a:r>
              <a:rPr spc="114" dirty="0"/>
              <a:t> </a:t>
            </a:r>
            <a:r>
              <a:rPr spc="75" dirty="0"/>
              <a:t>hardware</a:t>
            </a:r>
            <a:r>
              <a:rPr spc="114" dirty="0"/>
              <a:t> </a:t>
            </a:r>
            <a:r>
              <a:rPr spc="-25" dirty="0"/>
              <a:t>to </a:t>
            </a:r>
            <a:r>
              <a:rPr dirty="0"/>
              <a:t>upload</a:t>
            </a:r>
            <a:r>
              <a:rPr spc="245" dirty="0"/>
              <a:t> </a:t>
            </a:r>
            <a:r>
              <a:rPr dirty="0"/>
              <a:t>programs</a:t>
            </a:r>
            <a:r>
              <a:rPr spc="240" dirty="0"/>
              <a:t> </a:t>
            </a:r>
            <a:r>
              <a:rPr dirty="0"/>
              <a:t>and</a:t>
            </a:r>
            <a:r>
              <a:rPr spc="245" dirty="0"/>
              <a:t> </a:t>
            </a:r>
            <a:r>
              <a:rPr dirty="0"/>
              <a:t>communicate</a:t>
            </a:r>
            <a:r>
              <a:rPr spc="245" dirty="0"/>
              <a:t> </a:t>
            </a:r>
            <a:r>
              <a:rPr spc="-20" dirty="0"/>
              <a:t>with </a:t>
            </a:r>
            <a:r>
              <a:rPr spc="40" dirty="0"/>
              <a:t>them.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79" y="0"/>
            <a:ext cx="18288635" cy="10287000"/>
            <a:chOff x="-179" y="0"/>
            <a:chExt cx="18288635" cy="10287000"/>
          </a:xfrm>
        </p:grpSpPr>
        <p:sp>
          <p:nvSpPr>
            <p:cNvPr id="3" name="object 3"/>
            <p:cNvSpPr/>
            <p:nvPr/>
          </p:nvSpPr>
          <p:spPr>
            <a:xfrm>
              <a:off x="1133271" y="0"/>
              <a:ext cx="17155160" cy="10287000"/>
            </a:xfrm>
            <a:custGeom>
              <a:avLst/>
              <a:gdLst/>
              <a:ahLst/>
              <a:cxnLst/>
              <a:rect l="l" t="t" r="r" b="b"/>
              <a:pathLst>
                <a:path w="17155160" h="10287000">
                  <a:moveTo>
                    <a:pt x="452158" y="0"/>
                  </a:moveTo>
                  <a:lnTo>
                    <a:pt x="0" y="0"/>
                  </a:lnTo>
                  <a:lnTo>
                    <a:pt x="0" y="9586811"/>
                  </a:lnTo>
                  <a:lnTo>
                    <a:pt x="452158" y="9586811"/>
                  </a:lnTo>
                  <a:lnTo>
                    <a:pt x="452158" y="0"/>
                  </a:lnTo>
                  <a:close/>
                </a:path>
                <a:path w="17155160" h="10287000">
                  <a:moveTo>
                    <a:pt x="17154716" y="7760525"/>
                  </a:moveTo>
                  <a:lnTo>
                    <a:pt x="13538886" y="7760525"/>
                  </a:lnTo>
                  <a:lnTo>
                    <a:pt x="13538886" y="10287000"/>
                  </a:lnTo>
                  <a:lnTo>
                    <a:pt x="17154716" y="10287000"/>
                  </a:lnTo>
                  <a:lnTo>
                    <a:pt x="17154716" y="7760525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672160" y="0"/>
              <a:ext cx="3616325" cy="7760970"/>
            </a:xfrm>
            <a:custGeom>
              <a:avLst/>
              <a:gdLst/>
              <a:ahLst/>
              <a:cxnLst/>
              <a:rect l="l" t="t" r="r" b="b"/>
              <a:pathLst>
                <a:path w="3616325" h="7760970">
                  <a:moveTo>
                    <a:pt x="3615840" y="7760519"/>
                  </a:moveTo>
                  <a:lnTo>
                    <a:pt x="0" y="7760519"/>
                  </a:lnTo>
                  <a:lnTo>
                    <a:pt x="0" y="0"/>
                  </a:lnTo>
                  <a:lnTo>
                    <a:pt x="3615840" y="0"/>
                  </a:lnTo>
                  <a:lnTo>
                    <a:pt x="3615840" y="776051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179" y="1958219"/>
              <a:ext cx="1965960" cy="829310"/>
            </a:xfrm>
            <a:custGeom>
              <a:avLst/>
              <a:gdLst/>
              <a:ahLst/>
              <a:cxnLst/>
              <a:rect l="l" t="t" r="r" b="b"/>
              <a:pathLst>
                <a:path w="1965960" h="829310">
                  <a:moveTo>
                    <a:pt x="1553453" y="828719"/>
                  </a:moveTo>
                  <a:lnTo>
                    <a:pt x="0" y="828719"/>
                  </a:lnTo>
                  <a:lnTo>
                    <a:pt x="0" y="0"/>
                  </a:lnTo>
                  <a:lnTo>
                    <a:pt x="1554636" y="0"/>
                  </a:lnTo>
                  <a:lnTo>
                    <a:pt x="1602870" y="3382"/>
                  </a:lnTo>
                  <a:lnTo>
                    <a:pt x="1649398" y="12094"/>
                  </a:lnTo>
                  <a:lnTo>
                    <a:pt x="1693926" y="25807"/>
                  </a:lnTo>
                  <a:lnTo>
                    <a:pt x="1736158" y="44196"/>
                  </a:lnTo>
                  <a:lnTo>
                    <a:pt x="1775800" y="66933"/>
                  </a:lnTo>
                  <a:lnTo>
                    <a:pt x="1812554" y="93692"/>
                  </a:lnTo>
                  <a:lnTo>
                    <a:pt x="1846128" y="124147"/>
                  </a:lnTo>
                  <a:lnTo>
                    <a:pt x="1876224" y="157971"/>
                  </a:lnTo>
                  <a:lnTo>
                    <a:pt x="1902548" y="194836"/>
                  </a:lnTo>
                  <a:lnTo>
                    <a:pt x="1924805" y="234418"/>
                  </a:lnTo>
                  <a:lnTo>
                    <a:pt x="1942700" y="276388"/>
                  </a:lnTo>
                  <a:lnTo>
                    <a:pt x="1943147" y="277283"/>
                  </a:lnTo>
                  <a:lnTo>
                    <a:pt x="1943147" y="278177"/>
                  </a:lnTo>
                  <a:lnTo>
                    <a:pt x="1943594" y="279072"/>
                  </a:lnTo>
                  <a:lnTo>
                    <a:pt x="1953128" y="311245"/>
                  </a:lnTo>
                  <a:lnTo>
                    <a:pt x="1960145" y="344591"/>
                  </a:lnTo>
                  <a:lnTo>
                    <a:pt x="1964478" y="378944"/>
                  </a:lnTo>
                  <a:lnTo>
                    <a:pt x="1965959" y="414136"/>
                  </a:lnTo>
                  <a:lnTo>
                    <a:pt x="1964268" y="449754"/>
                  </a:lnTo>
                  <a:lnTo>
                    <a:pt x="1951995" y="519480"/>
                  </a:lnTo>
                  <a:lnTo>
                    <a:pt x="1924690" y="594704"/>
                  </a:lnTo>
                  <a:lnTo>
                    <a:pt x="1902696" y="634536"/>
                  </a:lnTo>
                  <a:lnTo>
                    <a:pt x="1876560" y="671523"/>
                  </a:lnTo>
                  <a:lnTo>
                    <a:pt x="1846576" y="705362"/>
                  </a:lnTo>
                  <a:lnTo>
                    <a:pt x="1813036" y="735752"/>
                  </a:lnTo>
                  <a:lnTo>
                    <a:pt x="1776231" y="762391"/>
                  </a:lnTo>
                  <a:lnTo>
                    <a:pt x="1736453" y="784975"/>
                  </a:lnTo>
                  <a:lnTo>
                    <a:pt x="1693995" y="803202"/>
                  </a:lnTo>
                  <a:lnTo>
                    <a:pt x="1649147" y="816770"/>
                  </a:lnTo>
                  <a:lnTo>
                    <a:pt x="1602203" y="825377"/>
                  </a:lnTo>
                  <a:lnTo>
                    <a:pt x="1553453" y="82871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62250" y="204926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5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-179" y="43244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62250" y="4415540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-179" y="669726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9"/>
                </a:lnTo>
                <a:lnTo>
                  <a:pt x="1943147" y="277283"/>
                </a:lnTo>
                <a:lnTo>
                  <a:pt x="1943147" y="278178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5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5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62250" y="6787939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8135600" cy="10287000"/>
            <a:chOff x="0" y="0"/>
            <a:chExt cx="18135600" cy="10287000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3210560" cy="10287000"/>
            </a:xfrm>
            <a:custGeom>
              <a:avLst/>
              <a:gdLst/>
              <a:ahLst/>
              <a:cxnLst/>
              <a:rect l="l" t="t" r="r" b="b"/>
              <a:pathLst>
                <a:path w="3210560" h="10287000">
                  <a:moveTo>
                    <a:pt x="3209785" y="0"/>
                  </a:moveTo>
                  <a:lnTo>
                    <a:pt x="2932138" y="0"/>
                  </a:lnTo>
                  <a:lnTo>
                    <a:pt x="1376629" y="1555508"/>
                  </a:lnTo>
                  <a:lnTo>
                    <a:pt x="0" y="178866"/>
                  </a:lnTo>
                  <a:lnTo>
                    <a:pt x="0" y="456514"/>
                  </a:lnTo>
                  <a:lnTo>
                    <a:pt x="1376629" y="1833156"/>
                  </a:lnTo>
                  <a:lnTo>
                    <a:pt x="1654289" y="1555508"/>
                  </a:lnTo>
                  <a:lnTo>
                    <a:pt x="3209785" y="0"/>
                  </a:lnTo>
                  <a:close/>
                </a:path>
                <a:path w="3210560" h="10287000">
                  <a:moveTo>
                    <a:pt x="3210141" y="10287000"/>
                  </a:moveTo>
                  <a:lnTo>
                    <a:pt x="1648498" y="8725370"/>
                  </a:lnTo>
                  <a:lnTo>
                    <a:pt x="1376629" y="8453501"/>
                  </a:lnTo>
                  <a:lnTo>
                    <a:pt x="0" y="9830143"/>
                  </a:lnTo>
                  <a:lnTo>
                    <a:pt x="0" y="10101999"/>
                  </a:lnTo>
                  <a:lnTo>
                    <a:pt x="1376629" y="8725370"/>
                  </a:lnTo>
                  <a:lnTo>
                    <a:pt x="2938272" y="10287000"/>
                  </a:lnTo>
                  <a:lnTo>
                    <a:pt x="3210141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48280" y="9647280"/>
              <a:ext cx="487079" cy="48707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688065" y="735524"/>
            <a:ext cx="4075429" cy="7432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include&lt;Servo.h&gt;</a:t>
            </a:r>
            <a:endParaRPr sz="1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Servo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motor;</a:t>
            </a:r>
            <a:endParaRPr sz="1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950" dirty="0">
              <a:latin typeface="Arial MT"/>
              <a:cs typeface="Arial MT"/>
            </a:endParaRPr>
          </a:p>
          <a:p>
            <a:pPr marL="12700" marR="1334135">
              <a:lnSpc>
                <a:spcPct val="100000"/>
              </a:lnSpc>
            </a:pP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const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trigPin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D1; 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const</a:t>
            </a:r>
            <a:r>
              <a:rPr sz="19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echoPin</a:t>
            </a:r>
            <a:r>
              <a:rPr sz="19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D2;</a:t>
            </a:r>
            <a:endParaRPr sz="1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950" dirty="0">
              <a:latin typeface="Arial MT"/>
              <a:cs typeface="Arial MT"/>
            </a:endParaRPr>
          </a:p>
          <a:p>
            <a:pPr marL="12700" marR="53340">
              <a:lnSpc>
                <a:spcPct val="100000"/>
              </a:lnSpc>
            </a:pPr>
            <a:r>
              <a:rPr sz="1950" spc="155" dirty="0">
                <a:solidFill>
                  <a:srgbClr val="FFFFFF"/>
                </a:solidFill>
                <a:latin typeface="Arial MT"/>
                <a:cs typeface="Arial MT"/>
              </a:rPr>
              <a:t>//define</a:t>
            </a:r>
            <a:r>
              <a:rPr sz="19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sound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velocity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cm/uS </a:t>
            </a:r>
            <a:r>
              <a:rPr sz="1950" spc="155" dirty="0">
                <a:solidFill>
                  <a:srgbClr val="FFFFFF"/>
                </a:solidFill>
                <a:latin typeface="Arial MT"/>
                <a:cs typeface="Arial MT"/>
              </a:rPr>
              <a:t>#def#ine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80" dirty="0">
                <a:solidFill>
                  <a:srgbClr val="FFFFFF"/>
                </a:solidFill>
                <a:latin typeface="Arial MT"/>
                <a:cs typeface="Arial MT"/>
              </a:rPr>
              <a:t>SOUND_VELOCITY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0.034</a:t>
            </a:r>
            <a:endParaRPr sz="1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950" dirty="0">
              <a:latin typeface="Arial MT"/>
              <a:cs typeface="Arial MT"/>
            </a:endParaRPr>
          </a:p>
          <a:p>
            <a:pPr marL="12700" marR="1826895">
              <a:lnSpc>
                <a:spcPct val="100000"/>
              </a:lnSpc>
            </a:pPr>
            <a:r>
              <a:rPr sz="1950" spc="105" dirty="0">
                <a:solidFill>
                  <a:srgbClr val="FFFFFF"/>
                </a:solidFill>
                <a:latin typeface="Arial MT"/>
                <a:cs typeface="Arial MT"/>
              </a:rPr>
              <a:t>long</a:t>
            </a:r>
            <a:r>
              <a:rPr sz="1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duration; </a:t>
            </a:r>
            <a:r>
              <a:rPr sz="1950" spc="105" dirty="0">
                <a:solidFill>
                  <a:srgbClr val="FFFFFF"/>
                </a:solidFill>
                <a:latin typeface="Arial MT"/>
                <a:cs typeface="Arial MT"/>
              </a:rPr>
              <a:t>float</a:t>
            </a:r>
            <a:r>
              <a:rPr sz="1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distanceCm; </a:t>
            </a:r>
            <a:r>
              <a:rPr sz="1950" spc="105" dirty="0">
                <a:solidFill>
                  <a:srgbClr val="FFFFFF"/>
                </a:solidFill>
                <a:latin typeface="Arial MT"/>
                <a:cs typeface="Arial MT"/>
              </a:rPr>
              <a:t>float</a:t>
            </a:r>
            <a:r>
              <a:rPr sz="1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distanceInch;</a:t>
            </a:r>
            <a:endParaRPr sz="1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950" dirty="0">
              <a:latin typeface="Arial MT"/>
              <a:cs typeface="Arial MT"/>
            </a:endParaRPr>
          </a:p>
          <a:p>
            <a:pPr marL="12700">
              <a:lnSpc>
                <a:spcPts val="2335"/>
              </a:lnSpc>
            </a:pPr>
            <a:r>
              <a:rPr sz="1950" spc="110" dirty="0">
                <a:solidFill>
                  <a:srgbClr val="FFFFFF"/>
                </a:solidFill>
                <a:latin typeface="Arial MT"/>
                <a:cs typeface="Arial MT"/>
              </a:rPr>
              <a:t>void</a:t>
            </a:r>
            <a:r>
              <a:rPr sz="1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setup()</a:t>
            </a:r>
            <a:r>
              <a:rPr sz="1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1950" dirty="0">
              <a:latin typeface="Arial MT"/>
              <a:cs typeface="Arial MT"/>
            </a:endParaRPr>
          </a:p>
          <a:p>
            <a:pPr marL="12700" marR="5080" indent="135890">
              <a:lnSpc>
                <a:spcPts val="2330"/>
              </a:lnSpc>
              <a:spcBef>
                <a:spcPts val="85"/>
              </a:spcBef>
            </a:pP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//Serial.begin(115200);</a:t>
            </a:r>
            <a:r>
              <a:rPr sz="195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31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9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Starts </a:t>
            </a:r>
            <a:r>
              <a:rPr sz="195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serial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125" dirty="0">
                <a:solidFill>
                  <a:srgbClr val="FFFFFF"/>
                </a:solidFill>
                <a:latin typeface="Arial MT"/>
                <a:cs typeface="Arial MT"/>
              </a:rPr>
              <a:t>communication 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pinMode(D0,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OUTPUT);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pinMode(trigPin,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25" dirty="0">
                <a:solidFill>
                  <a:srgbClr val="FFFFFF"/>
                </a:solidFill>
                <a:latin typeface="Arial MT"/>
                <a:cs typeface="Arial MT"/>
              </a:rPr>
              <a:t>OUTPUT);</a:t>
            </a:r>
            <a:r>
              <a:rPr sz="1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31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Sets </a:t>
            </a:r>
            <a:r>
              <a:rPr sz="195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trigPin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16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120" dirty="0">
                <a:solidFill>
                  <a:srgbClr val="FFFFFF"/>
                </a:solidFill>
                <a:latin typeface="Arial MT"/>
                <a:cs typeface="Arial MT"/>
              </a:rPr>
              <a:t>Output </a:t>
            </a:r>
            <a:r>
              <a:rPr sz="1950" spc="100" dirty="0">
                <a:solidFill>
                  <a:srgbClr val="FFFFFF"/>
                </a:solidFill>
                <a:latin typeface="Arial MT"/>
                <a:cs typeface="Arial MT"/>
              </a:rPr>
              <a:t>pinMode(echoPin,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5" dirty="0">
                <a:solidFill>
                  <a:srgbClr val="FFFFFF"/>
                </a:solidFill>
                <a:latin typeface="Arial MT"/>
                <a:cs typeface="Arial MT"/>
              </a:rPr>
              <a:t>INPUT);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31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Sets </a:t>
            </a:r>
            <a:r>
              <a:rPr sz="195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echoPin</a:t>
            </a:r>
            <a:r>
              <a:rPr sz="1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16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endParaRPr sz="1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 dirty="0">
              <a:latin typeface="Arial MT"/>
              <a:cs typeface="Arial MT"/>
            </a:endParaRPr>
          </a:p>
          <a:p>
            <a:pPr marL="148590" marR="788670">
              <a:lnSpc>
                <a:spcPct val="100000"/>
              </a:lnSpc>
              <a:tabLst>
                <a:tab pos="2673985" algn="l"/>
              </a:tabLst>
            </a:pP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motor.attach(2);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950" spc="31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D4 </a:t>
            </a:r>
            <a:r>
              <a:rPr sz="1950" spc="60" dirty="0">
                <a:solidFill>
                  <a:srgbClr val="FFFFFF"/>
                </a:solidFill>
                <a:latin typeface="Arial MT"/>
                <a:cs typeface="Arial MT"/>
              </a:rPr>
              <a:t>motor.write(0);</a:t>
            </a:r>
            <a:endParaRPr sz="195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8065" y="8142165"/>
            <a:ext cx="358140" cy="91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5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}--</a:t>
            </a:r>
            <a:r>
              <a:rPr sz="1950" spc="-5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74669" y="918816"/>
            <a:ext cx="3637279" cy="575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985" indent="-375285">
              <a:lnSpc>
                <a:spcPts val="1560"/>
              </a:lnSpc>
              <a:spcBef>
                <a:spcPts val="95"/>
              </a:spcBef>
              <a:buClr>
                <a:srgbClr val="8AD0D6"/>
              </a:buClr>
              <a:buSzPct val="76923"/>
              <a:buFont typeface="Lucida Sans Unicode"/>
              <a:buChar char="►"/>
              <a:tabLst>
                <a:tab pos="387985" algn="l"/>
              </a:tabLst>
            </a:pPr>
            <a:r>
              <a:rPr sz="1300" spc="70" dirty="0">
                <a:solidFill>
                  <a:srgbClr val="FFFFFF"/>
                </a:solidFill>
                <a:latin typeface="Arial MT"/>
                <a:cs typeface="Arial MT"/>
              </a:rPr>
              <a:t>void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loop()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1300">
              <a:latin typeface="Arial MT"/>
              <a:cs typeface="Arial MT"/>
            </a:endParaRPr>
          </a:p>
          <a:p>
            <a:pPr marL="479425" marR="1144905">
              <a:lnSpc>
                <a:spcPts val="1560"/>
              </a:lnSpc>
              <a:spcBef>
                <a:spcPts val="50"/>
              </a:spcBef>
            </a:pPr>
            <a:r>
              <a:rPr sz="1300" spc="20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Clears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trigPin 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digitalWrite(trigPin,</a:t>
            </a:r>
            <a:r>
              <a:rPr sz="1300" spc="3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LOW); 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delayMicroseconds(2);</a:t>
            </a:r>
            <a:endParaRPr sz="1300">
              <a:latin typeface="Arial MT"/>
              <a:cs typeface="Arial MT"/>
            </a:endParaRPr>
          </a:p>
          <a:p>
            <a:pPr marL="479425">
              <a:lnSpc>
                <a:spcPts val="1490"/>
              </a:lnSpc>
            </a:pPr>
            <a:r>
              <a:rPr sz="1300" spc="20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Arial MT"/>
                <a:cs typeface="Arial MT"/>
              </a:rPr>
              <a:t>Sets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trigPin </a:t>
            </a:r>
            <a:r>
              <a:rPr sz="1300" spc="9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50" dirty="0">
                <a:solidFill>
                  <a:srgbClr val="FFFFFF"/>
                </a:solidFill>
                <a:latin typeface="Arial MT"/>
                <a:cs typeface="Arial MT"/>
              </a:rPr>
              <a:t>state</a:t>
            </a:r>
            <a:r>
              <a:rPr sz="1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1300">
              <a:latin typeface="Arial MT"/>
              <a:cs typeface="Arial MT"/>
            </a:endParaRPr>
          </a:p>
          <a:p>
            <a:pPr marL="479425" marR="1116330" indent="-91440">
              <a:lnSpc>
                <a:spcPts val="1560"/>
              </a:lnSpc>
              <a:spcBef>
                <a:spcPts val="50"/>
              </a:spcBef>
            </a:pP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micro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seconds 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digitalWrite(trigPin,</a:t>
            </a:r>
            <a:r>
              <a:rPr sz="1300" spc="3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HIGH); delayMicroseconds(10);</a:t>
            </a:r>
            <a:r>
              <a:rPr sz="13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digitalWrite(trigPin,</a:t>
            </a:r>
            <a:r>
              <a:rPr sz="1300" spc="3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LOW);</a:t>
            </a:r>
            <a:endParaRPr sz="1300">
              <a:latin typeface="Arial MT"/>
              <a:cs typeface="Arial MT"/>
            </a:endParaRPr>
          </a:p>
          <a:p>
            <a:pPr marL="387985" marR="5080" indent="90805">
              <a:lnSpc>
                <a:spcPct val="100000"/>
              </a:lnSpc>
              <a:spcBef>
                <a:spcPts val="1485"/>
              </a:spcBef>
            </a:pPr>
            <a:r>
              <a:rPr sz="1300" spc="20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Reads</a:t>
            </a:r>
            <a:r>
              <a:rPr sz="13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echoPin,</a:t>
            </a:r>
            <a:r>
              <a:rPr sz="13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returns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sound </a:t>
            </a:r>
            <a:r>
              <a:rPr sz="1300" spc="110" dirty="0">
                <a:solidFill>
                  <a:srgbClr val="FFFFFF"/>
                </a:solidFill>
                <a:latin typeface="Arial MT"/>
                <a:cs typeface="Arial MT"/>
              </a:rPr>
              <a:t>wave</a:t>
            </a:r>
            <a:r>
              <a:rPr sz="13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travel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6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45" dirty="0">
                <a:solidFill>
                  <a:srgbClr val="FFFFFF"/>
                </a:solidFill>
                <a:latin typeface="Arial MT"/>
                <a:cs typeface="Arial MT"/>
              </a:rPr>
              <a:t>microseconds 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duration</a:t>
            </a:r>
            <a:r>
              <a:rPr sz="13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3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pulseIn(echoPin,</a:t>
            </a:r>
            <a:r>
              <a:rPr sz="13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HIGH);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 MT"/>
              <a:cs typeface="Arial MT"/>
            </a:endParaRPr>
          </a:p>
          <a:p>
            <a:pPr marL="387985" marR="1123950" indent="90805">
              <a:lnSpc>
                <a:spcPct val="100000"/>
              </a:lnSpc>
            </a:pPr>
            <a:r>
              <a:rPr sz="1300" spc="20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85" dirty="0">
                <a:solidFill>
                  <a:srgbClr val="FFFFFF"/>
                </a:solidFill>
                <a:latin typeface="Arial MT"/>
                <a:cs typeface="Arial MT"/>
              </a:rPr>
              <a:t>Calculate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Arial MT"/>
                <a:cs typeface="Arial MT"/>
              </a:rPr>
              <a:t>distance </a:t>
            </a:r>
            <a:r>
              <a:rPr sz="1300" spc="75" dirty="0">
                <a:solidFill>
                  <a:srgbClr val="FFFFFF"/>
                </a:solidFill>
                <a:latin typeface="Arial MT"/>
                <a:cs typeface="Arial MT"/>
              </a:rPr>
              <a:t>distanceCm</a:t>
            </a: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3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duration</a:t>
            </a:r>
            <a:r>
              <a:rPr sz="13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*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SOUND_VELOCITY/2;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 MT"/>
              <a:cs typeface="Arial MT"/>
            </a:endParaRPr>
          </a:p>
          <a:p>
            <a:pPr marL="387985" marR="493395" indent="90805">
              <a:lnSpc>
                <a:spcPct val="100000"/>
              </a:lnSpc>
            </a:pPr>
            <a:r>
              <a:rPr sz="1300" spc="20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Arial MT"/>
                <a:cs typeface="Arial MT"/>
              </a:rPr>
              <a:t>Prints</a:t>
            </a:r>
            <a:r>
              <a:rPr sz="1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65" dirty="0">
                <a:solidFill>
                  <a:srgbClr val="FFFFFF"/>
                </a:solidFill>
                <a:latin typeface="Arial MT"/>
                <a:cs typeface="Arial MT"/>
              </a:rPr>
              <a:t>distance</a:t>
            </a:r>
            <a:r>
              <a:rPr sz="1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9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8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Serial </a:t>
            </a:r>
            <a:r>
              <a:rPr sz="1300" spc="40" dirty="0">
                <a:solidFill>
                  <a:srgbClr val="FFFFFF"/>
                </a:solidFill>
                <a:latin typeface="Arial MT"/>
                <a:cs typeface="Arial MT"/>
              </a:rPr>
              <a:t>Monitor</a:t>
            </a:r>
            <a:endParaRPr sz="1300">
              <a:latin typeface="Arial MT"/>
              <a:cs typeface="Arial MT"/>
            </a:endParaRPr>
          </a:p>
          <a:p>
            <a:pPr marL="479425">
              <a:lnSpc>
                <a:spcPts val="1550"/>
              </a:lnSpc>
            </a:pP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//Serial.print("Distance</a:t>
            </a:r>
            <a:r>
              <a:rPr sz="1300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70" dirty="0">
                <a:solidFill>
                  <a:srgbClr val="FFFFFF"/>
                </a:solidFill>
                <a:latin typeface="Arial MT"/>
                <a:cs typeface="Arial MT"/>
              </a:rPr>
              <a:t>(cm):</a:t>
            </a:r>
            <a:r>
              <a:rPr sz="1300" spc="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");</a:t>
            </a:r>
            <a:endParaRPr sz="1300">
              <a:latin typeface="Arial MT"/>
              <a:cs typeface="Arial MT"/>
            </a:endParaRPr>
          </a:p>
          <a:p>
            <a:pPr marL="479425" marR="916305">
              <a:lnSpc>
                <a:spcPts val="1560"/>
              </a:lnSpc>
              <a:spcBef>
                <a:spcPts val="50"/>
              </a:spcBef>
            </a:pP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//Serial.println(distanceCm);</a:t>
            </a:r>
            <a:r>
              <a:rPr sz="1300" spc="500" dirty="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sz="1300" spc="60" dirty="0">
                <a:solidFill>
                  <a:srgbClr val="FFFFFF"/>
                </a:solidFill>
                <a:latin typeface="Arial MT"/>
                <a:cs typeface="Arial MT"/>
              </a:rPr>
              <a:t>if(distanceCm</a:t>
            </a: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&lt;</a:t>
            </a: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30)</a:t>
            </a:r>
            <a:endParaRPr sz="1300">
              <a:latin typeface="Arial MT"/>
              <a:cs typeface="Arial MT"/>
            </a:endParaRPr>
          </a:p>
          <a:p>
            <a:pPr marL="387985">
              <a:lnSpc>
                <a:spcPts val="1495"/>
              </a:lnSpc>
            </a:pP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{digitalWrite(D0,HIGH);</a:t>
            </a:r>
            <a:r>
              <a:rPr sz="1300" spc="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motor.write(190);</a:t>
            </a:r>
            <a:endParaRPr sz="1300">
              <a:latin typeface="Arial MT"/>
              <a:cs typeface="Arial MT"/>
            </a:endParaRPr>
          </a:p>
          <a:p>
            <a:pPr marL="387985">
              <a:lnSpc>
                <a:spcPts val="1555"/>
              </a:lnSpc>
            </a:pPr>
            <a:r>
              <a:rPr sz="1300" spc="10" dirty="0">
                <a:solidFill>
                  <a:srgbClr val="FFFFFF"/>
                </a:solidFill>
                <a:latin typeface="Arial MT"/>
                <a:cs typeface="Arial MT"/>
              </a:rPr>
              <a:t>delay(5000);</a:t>
            </a:r>
            <a:r>
              <a:rPr sz="1300" spc="3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  <a:p>
            <a:pPr marL="387985" marR="996950" indent="90805">
              <a:lnSpc>
                <a:spcPts val="1560"/>
              </a:lnSpc>
              <a:spcBef>
                <a:spcPts val="50"/>
              </a:spcBef>
            </a:pP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sz="1300" spc="3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{digitalWrite(D0,LOW); </a:t>
            </a:r>
            <a:r>
              <a:rPr sz="1300" spc="20" dirty="0">
                <a:solidFill>
                  <a:srgbClr val="FFFFFF"/>
                </a:solidFill>
                <a:latin typeface="Arial MT"/>
                <a:cs typeface="Arial MT"/>
              </a:rPr>
              <a:t>motor.write(0);</a:t>
            </a:r>
            <a:r>
              <a:rPr sz="1300" spc="2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  <a:p>
            <a:pPr marL="387985">
              <a:lnSpc>
                <a:spcPct val="100000"/>
              </a:lnSpc>
              <a:spcBef>
                <a:spcPts val="1490"/>
              </a:spcBef>
            </a:pP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825</Words>
  <Application>Microsoft Office PowerPoint</Application>
  <PresentationFormat>Custom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Black</vt:lpstr>
      <vt:lpstr>Arial MT</vt:lpstr>
      <vt:lpstr>Calibri</vt:lpstr>
      <vt:lpstr>Lucida Sans Unicode</vt:lpstr>
      <vt:lpstr>Tahoma</vt:lpstr>
      <vt:lpstr>Times New Roman</vt:lpstr>
      <vt:lpstr>Trebuchet MS</vt:lpstr>
      <vt:lpstr>Office Theme</vt:lpstr>
      <vt:lpstr>ABSTRACT IOT BASED-SMART DUSTBIN helps to create a cleaner, safer, more hygienic</vt:lpstr>
      <vt:lpstr>PowerPoint Presentation</vt:lpstr>
      <vt:lpstr>Tools--Technology--Components Used</vt:lpstr>
      <vt:lpstr>TOOLS: Dustbin, ARDUINO-IDE, Servo Motor, Ultrasonic Sensor, Connecting wires.</vt:lpstr>
      <vt:lpstr>PowerPoint Presentation</vt:lpstr>
      <vt:lpstr>TECHNICAL COMPONENTS :</vt:lpstr>
      <vt:lpstr>DEMONSTRATING OF CONNECTIONS</vt:lpstr>
      <vt:lpstr>DEMONSTRATING PICTURES-- IMPLEMENTATION [ ARDUINO,SERVO MOTOR,ULTRASONIC SENSOR]--</vt:lpstr>
      <vt:lpstr>Salient Features of SMART DUSTBIN</vt:lpstr>
      <vt:lpstr>~~Automatic sensor based operation with zero manual intervention ~~Hygienic disposal with automatic and touch-less waste disposal</vt:lpstr>
      <vt:lpstr>SOFTWARE USED: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BASED-SMART DUSTBIN</dc:title>
  <cp:lastModifiedBy>batuvula srikanya</cp:lastModifiedBy>
  <cp:revision>1</cp:revision>
  <dcterms:created xsi:type="dcterms:W3CDTF">2025-11-22T17:37:31Z</dcterms:created>
  <dcterms:modified xsi:type="dcterms:W3CDTF">2025-11-22T17:41:27Z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2025-11-22T00:00:00Z</vt:filetime>
  </property>
</Properties>
</file>